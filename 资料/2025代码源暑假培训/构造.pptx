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1"/>
  </p:notesMasterIdLst>
  <p:sldIdLst>
    <p:sldId id="256" r:id="rId3"/>
    <p:sldId id="257" r:id="rId4"/>
    <p:sldId id="258" r:id="rId5"/>
    <p:sldId id="259" r:id="rId6"/>
    <p:sldId id="328" r:id="rId7"/>
    <p:sldId id="329" r:id="rId8"/>
    <p:sldId id="334" r:id="rId9"/>
    <p:sldId id="385" r:id="rId10"/>
    <p:sldId id="383" r:id="rId11"/>
    <p:sldId id="384" r:id="rId12"/>
    <p:sldId id="400" r:id="rId13"/>
    <p:sldId id="401" r:id="rId14"/>
    <p:sldId id="406" r:id="rId15"/>
    <p:sldId id="407" r:id="rId16"/>
    <p:sldId id="276" r:id="rId17"/>
    <p:sldId id="286" r:id="rId18"/>
    <p:sldId id="287" r:id="rId19"/>
    <p:sldId id="288" r:id="rId20"/>
    <p:sldId id="290" r:id="rId21"/>
    <p:sldId id="387" r:id="rId22"/>
    <p:sldId id="388" r:id="rId23"/>
    <p:sldId id="389" r:id="rId24"/>
    <p:sldId id="390" r:id="rId25"/>
    <p:sldId id="391" r:id="rId26"/>
    <p:sldId id="386" r:id="rId27"/>
    <p:sldId id="291" r:id="rId28"/>
    <p:sldId id="293" r:id="rId29"/>
    <p:sldId id="392" r:id="rId30"/>
    <p:sldId id="393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33" r:id="rId39"/>
    <p:sldId id="394" r:id="rId40"/>
    <p:sldId id="307" r:id="rId41"/>
    <p:sldId id="312" r:id="rId42"/>
    <p:sldId id="313" r:id="rId43"/>
    <p:sldId id="314" r:id="rId44"/>
    <p:sldId id="315" r:id="rId45"/>
    <p:sldId id="316" r:id="rId46"/>
    <p:sldId id="308" r:id="rId47"/>
    <p:sldId id="309" r:id="rId48"/>
    <p:sldId id="395" r:id="rId49"/>
    <p:sldId id="396" r:id="rId50"/>
    <p:sldId id="317" r:id="rId51"/>
    <p:sldId id="324" r:id="rId52"/>
    <p:sldId id="325" r:id="rId53"/>
    <p:sldId id="397" r:id="rId54"/>
    <p:sldId id="398" r:id="rId55"/>
    <p:sldId id="326" r:id="rId56"/>
    <p:sldId id="327" r:id="rId57"/>
    <p:sldId id="402" r:id="rId58"/>
    <p:sldId id="403" r:id="rId59"/>
    <p:sldId id="404" r:id="rId60"/>
    <p:sldId id="405" r:id="rId61"/>
    <p:sldId id="409" r:id="rId62"/>
    <p:sldId id="335" r:id="rId63"/>
    <p:sldId id="410" r:id="rId64"/>
    <p:sldId id="411" r:id="rId65"/>
    <p:sldId id="408" r:id="rId66"/>
    <p:sldId id="413" r:id="rId67"/>
    <p:sldId id="414" r:id="rId68"/>
    <p:sldId id="331" r:id="rId69"/>
    <p:sldId id="332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708"/>
  </p:normalViewPr>
  <p:slideViewPr>
    <p:cSldViewPr snapToGrid="0" snapToObjects="1">
      <p:cViewPr>
        <p:scale>
          <a:sx n="94" d="100"/>
          <a:sy n="94" d="100"/>
        </p:scale>
        <p:origin x="-1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notesMaster" Target="notesMasters/notesMaster1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63B53-7E94-BB48-8763-1A797F74484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31B2-64BE-9842-911F-B8A2AD8D72C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972C9DE-4589-1949-9D38-E96A4AB82E8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5F96902-8A39-3840-8B19-3C7CD02F3E2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构造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2025.7.31</a:t>
            </a: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增量构造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根据</a:t>
            </a:r>
            <a:r>
              <a:rPr kumimoji="1" lang="en-US" altLang="zh-CN" dirty="0" smtClean="0"/>
              <a:t>n-1</a:t>
            </a:r>
            <a:r>
              <a:rPr kumimoji="1" lang="zh-CN" altLang="en-US" dirty="0" smtClean="0"/>
              <a:t>或者</a:t>
            </a:r>
            <a:r>
              <a:rPr kumimoji="1" lang="en-US" altLang="zh-CN" dirty="0" smtClean="0"/>
              <a:t>n-2</a:t>
            </a:r>
            <a:r>
              <a:rPr kumimoji="1" lang="zh-CN" altLang="en-US" dirty="0" smtClean="0"/>
              <a:t>的解来构造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的解。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或者把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转化为</a:t>
            </a:r>
            <a:r>
              <a:rPr kumimoji="1" lang="en-US" altLang="zh-CN" dirty="0" smtClean="0"/>
              <a:t>n-1</a:t>
            </a:r>
            <a:r>
              <a:rPr kumimoji="1" lang="zh-CN" altLang="en-US" dirty="0" smtClean="0"/>
              <a:t>或</a:t>
            </a:r>
            <a:r>
              <a:rPr kumimoji="1" lang="en-US" altLang="zh-CN" dirty="0" smtClean="0"/>
              <a:t>n-2</a:t>
            </a:r>
            <a:r>
              <a:rPr kumimoji="1" lang="zh-CN" altLang="en-US" dirty="0" smtClean="0"/>
              <a:t>的子问题。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经典问题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平面上有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条直线，将平面划分成若干个区域。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你要对这些区域黑白染色，使得相邻的区域颜色都是不同的。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每次加一条直线，将直线一边的取反即可。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90 and </a:t>
            </a:r>
            <a:r>
              <a:rPr lang="en-US" altLang="zh-CN" b="1" dirty="0" smtClean="0"/>
              <a:t>270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构造个简单多边形，每条边都为水平或者竖直。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使得它的内角依次为</a:t>
            </a:r>
            <a:r>
              <a:rPr kumimoji="1" lang="en-US" altLang="zh-CN" dirty="0" smtClean="0"/>
              <a:t>a1,a2,…,an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en-US" altLang="zh-CN" dirty="0" smtClean="0"/>
              <a:t>n&lt;=1000,</a:t>
            </a:r>
            <a:r>
              <a:rPr kumimoji="1" lang="zh-CN" altLang="en-US" dirty="0" smtClean="0"/>
              <a:t> 要求坐标范围不超过</a:t>
            </a:r>
            <a:r>
              <a:rPr kumimoji="1" lang="en-US" altLang="zh-CN" dirty="0" smtClean="0"/>
              <a:t>1e9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首先每个角一定为</a:t>
            </a:r>
            <a:r>
              <a:rPr kumimoji="1" lang="en-US" altLang="zh-CN" dirty="0" smtClean="0"/>
              <a:t>90</a:t>
            </a:r>
            <a:r>
              <a:rPr kumimoji="1" lang="zh-CN" altLang="en-US" dirty="0" smtClean="0"/>
              <a:t>或者</a:t>
            </a:r>
            <a:r>
              <a:rPr kumimoji="1" lang="en-US" altLang="zh-CN" dirty="0" smtClean="0"/>
              <a:t>270</a:t>
            </a:r>
            <a:r>
              <a:rPr kumimoji="1" lang="zh-CN" altLang="en-US" dirty="0" smtClean="0"/>
              <a:t>，且内角和为</a:t>
            </a:r>
            <a:r>
              <a:rPr kumimoji="1" lang="en-US" altLang="zh-CN" dirty="0" smtClean="0"/>
              <a:t>180(n-2)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考虑两种模式</a:t>
            </a:r>
            <a:r>
              <a:rPr kumimoji="1" lang="en-US" altLang="zh-CN" dirty="0" smtClean="0"/>
              <a:t>90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270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90</a:t>
            </a:r>
            <a:r>
              <a:rPr kumimoji="1" lang="zh-CN" altLang="en-US" dirty="0" smtClean="0"/>
              <a:t>，可以把它缩掉变成一个</a:t>
            </a:r>
            <a:r>
              <a:rPr kumimoji="1" lang="en-US" altLang="zh-CN" dirty="0" smtClean="0"/>
              <a:t>90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另一种为</a:t>
            </a:r>
            <a:r>
              <a:rPr kumimoji="1" lang="en-US" altLang="zh-CN" dirty="0" smtClean="0"/>
              <a:t>90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270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270</a:t>
            </a:r>
            <a:r>
              <a:rPr kumimoji="1" lang="zh-CN" altLang="en-US" dirty="0" smtClean="0"/>
              <a:t>，那么可以缩成一个</a:t>
            </a:r>
            <a:r>
              <a:rPr kumimoji="1" lang="en-US" altLang="zh-CN" dirty="0" smtClean="0"/>
              <a:t>270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转化为</a:t>
            </a:r>
            <a:r>
              <a:rPr kumimoji="1" lang="en-US" altLang="zh-CN" dirty="0" smtClean="0"/>
              <a:t>n-2</a:t>
            </a:r>
            <a:r>
              <a:rPr kumimoji="1" lang="zh-CN" altLang="en-US" dirty="0" smtClean="0"/>
              <a:t>的子问题求解。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还有一个问题是如何在坐标上表达这些增量。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我们把每个坐标*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之后，然后进行微调，接着离散化即可。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时间复杂度</a:t>
            </a:r>
            <a:r>
              <a:rPr kumimoji="1" lang="en-US" altLang="zh-CN" dirty="0" smtClean="0"/>
              <a:t>O(n^2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n)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7185" y="2458944"/>
            <a:ext cx="2791195" cy="2570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Jinan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2020 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给你一棵树，你要在</a:t>
            </a:r>
            <a:r>
              <a:rPr kumimoji="1" lang="en-US" altLang="zh-CN" dirty="0" smtClean="0"/>
              <a:t>10000</a:t>
            </a:r>
            <a:r>
              <a:rPr kumimoji="1" lang="zh-CN" altLang="en-US" dirty="0" smtClean="0"/>
              <a:t>步内变成另一棵树。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每次可以选择</a:t>
            </a:r>
            <a:r>
              <a:rPr kumimoji="1" lang="en-US" altLang="zh-CN" dirty="0"/>
              <a:t>4</a:t>
            </a:r>
            <a:r>
              <a:rPr kumimoji="1" lang="zh-CN" altLang="en-US" dirty="0" smtClean="0"/>
              <a:t>个点</a:t>
            </a:r>
            <a:r>
              <a:rPr kumimoji="1" lang="en-US" altLang="zh-CN" dirty="0" err="1" smtClean="0"/>
              <a:t>a,b,c,d</a:t>
            </a:r>
            <a:r>
              <a:rPr kumimoji="1" lang="zh-CN" altLang="en-US" dirty="0" smtClean="0"/>
              <a:t>满足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a,b</a:t>
            </a:r>
            <a:r>
              <a:rPr kumimoji="1" lang="en-US" altLang="zh-CN" dirty="0" smtClean="0"/>
              <a:t>),(</a:t>
            </a:r>
            <a:r>
              <a:rPr kumimoji="1" lang="en-US" altLang="zh-CN" dirty="0" err="1" smtClean="0"/>
              <a:t>b,c</a:t>
            </a:r>
            <a:r>
              <a:rPr kumimoji="1" lang="en-US" altLang="zh-CN" dirty="0" smtClean="0"/>
              <a:t>),(</a:t>
            </a:r>
            <a:r>
              <a:rPr kumimoji="1" lang="en-US" altLang="zh-CN" dirty="0" err="1" smtClean="0"/>
              <a:t>c,d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之间有边。然后删除这些边之后在这些点之间连上任意边，使得还是一棵树。</a:t>
            </a:r>
            <a:endParaRPr kumimoji="1" lang="en-US" altLang="zh-CN" dirty="0" smtClean="0"/>
          </a:p>
          <a:p>
            <a:r>
              <a:rPr kumimoji="1" lang="en-US" altLang="zh-CN" dirty="0"/>
              <a:t>n</a:t>
            </a:r>
            <a:r>
              <a:rPr kumimoji="1" lang="en-US" altLang="zh-CN" dirty="0" smtClean="0"/>
              <a:t>&lt;=100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dirty="0" smtClean="0"/>
              <a:t>Solution</a:t>
            </a:r>
            <a:endParaRPr kumimoji="1"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考虑中间状态，</a:t>
            </a:r>
            <a:r>
              <a:rPr kumimoji="1" lang="zh-CN" altLang="en-US" dirty="0"/>
              <a:t>一条链。</a:t>
            </a:r>
            <a:endParaRPr kumimoji="1" lang="zh-CN" altLang="en-US" dirty="0"/>
          </a:p>
          <a:p>
            <a:r>
              <a:rPr kumimoji="1" lang="zh-CN" altLang="en-US" dirty="0"/>
              <a:t>正着：找到一条大于等于三的直径，把点往直径一端去拉，依次</a:t>
            </a:r>
            <a:r>
              <a:rPr kumimoji="1" lang="zh-CN" altLang="en-US" dirty="0"/>
              <a:t>增加直径长度。</a:t>
            </a:r>
            <a:endParaRPr kumimoji="1" lang="zh-CN" altLang="en-US" dirty="0"/>
          </a:p>
          <a:p>
            <a:r>
              <a:rPr kumimoji="1" lang="zh-CN" altLang="en-US" dirty="0"/>
              <a:t>反着：</a:t>
            </a:r>
            <a:r>
              <a:rPr kumimoji="1" lang="zh-CN" altLang="en-US" dirty="0"/>
              <a:t>也可以做类似的操作。</a:t>
            </a:r>
            <a:endParaRPr kumimoji="1" lang="zh-CN" altLang="en-US" dirty="0"/>
          </a:p>
          <a:p>
            <a:endParaRPr kumimoji="1" lang="zh-CN" altLang="en-US" dirty="0"/>
          </a:p>
          <a:p>
            <a:r>
              <a:rPr kumimoji="1" lang="zh-CN" altLang="en-US" dirty="0"/>
              <a:t>中间：</a:t>
            </a:r>
            <a:r>
              <a:rPr kumimoji="1" lang="zh-CN" altLang="en-US" dirty="0"/>
              <a:t>交换编号。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shanghai 2024 </a:t>
            </a:r>
            <a:r>
              <a:rPr kumimoji="1" lang="en-US" altLang="zh-CN" dirty="0" smtClean="0"/>
              <a:t>H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https://qoj.ac/contest/1913/problem/9044</a:t>
            </a:r>
            <a:endParaRPr kumimoji="1" lang="zh-CN" altLang="en-US" dirty="0"/>
          </a:p>
          <a:p>
            <a:r>
              <a:rPr kumimoji="1" lang="zh-CN" altLang="en-US" dirty="0"/>
              <a:t>给你一个三角形，用</a:t>
            </a:r>
            <a:r>
              <a:rPr kumimoji="1" lang="en-US" altLang="zh-CN" dirty="0"/>
              <a:t> v</a:t>
            </a:r>
            <a:r>
              <a:rPr kumimoji="1" lang="zh-CN" altLang="en-US" dirty="0"/>
              <a:t>字形覆盖，留尽量少的</a:t>
            </a:r>
            <a:r>
              <a:rPr kumimoji="1" lang="zh-CN" altLang="en-US" dirty="0"/>
              <a:t>空。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手玩发现</a:t>
            </a:r>
            <a:r>
              <a:rPr kumimoji="1" lang="zh-CN" altLang="en-US" dirty="0"/>
              <a:t>剩的空格和</a:t>
            </a:r>
            <a:r>
              <a:rPr kumimoji="1" lang="en-US" altLang="zh-CN" dirty="0"/>
              <a:t> mod 3 </a:t>
            </a:r>
            <a:r>
              <a:rPr kumimoji="1" lang="zh-CN" altLang="en-US" dirty="0"/>
              <a:t>有关系。</a:t>
            </a:r>
            <a:endParaRPr kumimoji="1" lang="zh-CN" altLang="en-US" dirty="0"/>
          </a:p>
          <a:p>
            <a:r>
              <a:rPr kumimoji="1" lang="zh-CN" altLang="en-US" dirty="0"/>
              <a:t>于是考虑</a:t>
            </a:r>
            <a:r>
              <a:rPr kumimoji="1" lang="en-US" altLang="zh-CN" dirty="0"/>
              <a:t> n-3 =&gt; n</a:t>
            </a:r>
            <a:r>
              <a:rPr kumimoji="1" lang="zh-CN" altLang="en-US" dirty="0"/>
              <a:t>，发现下面形状可以完美</a:t>
            </a:r>
            <a:r>
              <a:rPr kumimoji="1" lang="zh-CN" altLang="en-US" dirty="0"/>
              <a:t>拼出来。</a:t>
            </a:r>
            <a:endParaRPr kumimoji="1" lang="zh-CN" altLang="en-US" dirty="0"/>
          </a:p>
          <a:p>
            <a:r>
              <a:rPr kumimoji="1" lang="zh-CN" altLang="en-US" dirty="0"/>
              <a:t>这个构造和奇偶</a:t>
            </a:r>
            <a:r>
              <a:rPr kumimoji="1" lang="zh-CN" altLang="en-US" dirty="0"/>
              <a:t>稍微有点关系。</a:t>
            </a:r>
            <a:endParaRPr kumimoji="1" lang="zh-CN" altLang="en-US" dirty="0"/>
          </a:p>
          <a:p>
            <a:r>
              <a:rPr kumimoji="1" lang="zh-CN" altLang="en-US" dirty="0"/>
              <a:t>然后就</a:t>
            </a:r>
            <a:r>
              <a:rPr kumimoji="1" lang="en-US" altLang="zh-CN" dirty="0"/>
              <a:t> </a:t>
            </a:r>
            <a:r>
              <a:rPr kumimoji="1" lang="en-US" altLang="zh-CN" dirty="0"/>
              <a:t>n-3 =&gt; n</a:t>
            </a:r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429000"/>
            <a:ext cx="52959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Tree Weights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https://codeforces.com/contest/1844/problem/G</a:t>
            </a:r>
            <a:endParaRPr kumimoji="1" lang="zh-CN" altLang="en-US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非常神秘的题，发现奇偶性是简单的。</a:t>
            </a:r>
            <a:endParaRPr kumimoji="1" lang="zh-CN" altLang="en-US" dirty="0"/>
          </a:p>
          <a:p>
            <a:r>
              <a:rPr kumimoji="1" lang="zh-CN" altLang="en-US" dirty="0"/>
              <a:t>所以从低位往高位</a:t>
            </a:r>
            <a:r>
              <a:rPr kumimoji="1" lang="zh-CN" altLang="en-US" dirty="0"/>
              <a:t>构造。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 same permutation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https://codeforces.com/contest/</a:t>
            </a:r>
            <a:r>
              <a:rPr kumimoji="1" lang="en-US" altLang="zh-CN" dirty="0"/>
              <a:t>804</a:t>
            </a:r>
            <a:r>
              <a:rPr kumimoji="1" lang="zh-CN" altLang="en-US" dirty="0"/>
              <a:t>/problem/</a:t>
            </a:r>
            <a:r>
              <a:rPr kumimoji="1" lang="en-US" altLang="zh-CN" dirty="0"/>
              <a:t>E</a:t>
            </a:r>
            <a:endParaRPr kumimoji="1" lang="zh-CN" altLang="en-US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MO</a:t>
            </a:r>
            <a:r>
              <a:rPr kumimoji="1" lang="zh-CN" altLang="en-US" dirty="0"/>
              <a:t>题</a:t>
            </a:r>
            <a:r>
              <a:rPr kumimoji="1" lang="zh-CN" altLang="en-US" dirty="0"/>
              <a:t>滚出算法竞赛。</a:t>
            </a:r>
            <a:endParaRPr kumimoji="1" lang="zh-CN" altLang="en-US" dirty="0"/>
          </a:p>
          <a:p>
            <a:r>
              <a:rPr kumimoji="1" lang="zh-CN" altLang="en-US" dirty="0"/>
              <a:t>容易发现答案和</a:t>
            </a:r>
            <a:r>
              <a:rPr kumimoji="1" lang="en-US" altLang="zh-CN" dirty="0"/>
              <a:t> mod 4 </a:t>
            </a:r>
            <a:r>
              <a:rPr kumimoji="1" lang="zh-CN" altLang="en-US" dirty="0"/>
              <a:t>有关，先搞出</a:t>
            </a:r>
            <a:r>
              <a:rPr kumimoji="1" lang="en-US" altLang="zh-CN" dirty="0"/>
              <a:t> n-4 </a:t>
            </a:r>
            <a:r>
              <a:rPr kumimoji="1" lang="zh-CN" altLang="en-US" dirty="0"/>
              <a:t>的答案。</a:t>
            </a:r>
            <a:endParaRPr kumimoji="1" lang="zh-CN" altLang="en-US" dirty="0"/>
          </a:p>
          <a:p>
            <a:r>
              <a:rPr kumimoji="1" lang="zh-CN" altLang="en-US" dirty="0"/>
              <a:t>按照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(n-3) x 1 ... n-4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(n-2) x n-3 ... 1 </a:t>
            </a:r>
            <a:r>
              <a:rPr kumimoji="1" lang="zh-CN" altLang="en-US" dirty="0"/>
              <a:t>可以交换</a:t>
            </a:r>
            <a:r>
              <a:rPr kumimoji="1" lang="en-US" altLang="zh-CN" dirty="0"/>
              <a:t> n-2 n-3</a:t>
            </a:r>
            <a:endParaRPr kumimoji="1" lang="en-US" altLang="zh-CN" dirty="0"/>
          </a:p>
          <a:p>
            <a:pPr marL="128270" lvl="1" indent="0">
              <a:buNone/>
            </a:pPr>
            <a:r>
              <a:rPr kumimoji="1" lang="zh-CN" altLang="en-US" dirty="0"/>
              <a:t>同理操作</a:t>
            </a:r>
            <a:r>
              <a:rPr kumimoji="1" lang="en-US" altLang="zh-CN" dirty="0"/>
              <a:t> n-1, n</a:t>
            </a:r>
            <a:r>
              <a:rPr kumimoji="1" lang="zh-CN" altLang="en-US" dirty="0"/>
              <a:t>，得到</a:t>
            </a:r>
            <a:r>
              <a:rPr kumimoji="1" lang="en-US" altLang="zh-CN" dirty="0"/>
              <a:t> 1...n-4 n-2 n-3 n n-1</a:t>
            </a:r>
            <a:endParaRPr kumimoji="1" lang="en-US" altLang="zh-CN" dirty="0"/>
          </a:p>
          <a:p>
            <a:pPr marL="128270" lvl="1" indent="0">
              <a:buNone/>
            </a:pPr>
            <a:r>
              <a:rPr kumimoji="1" lang="zh-CN" altLang="en-US" dirty="0"/>
              <a:t>然后搜一下最后四步</a:t>
            </a:r>
            <a:r>
              <a:rPr kumimoji="1" lang="en-US" altLang="zh-CN" dirty="0"/>
              <a:t> n-2 n-1, n-3 n, n-3 n-1, n-2 n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递归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分治构造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把规模转化成</a:t>
            </a:r>
            <a:r>
              <a:rPr kumimoji="1" lang="en-US" altLang="zh-CN" dirty="0" smtClean="0"/>
              <a:t>n/2</a:t>
            </a:r>
            <a:r>
              <a:rPr kumimoji="1" lang="zh-CN" altLang="en-US" dirty="0" smtClean="0"/>
              <a:t>或者其他小的规模。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一个更常见的套路是通过</a:t>
            </a:r>
            <a:r>
              <a:rPr kumimoji="1" lang="en-US" altLang="zh-CN" dirty="0" smtClean="0"/>
              <a:t>x</a:t>
            </a:r>
            <a:r>
              <a:rPr kumimoji="1" lang="zh-CN" altLang="en-US" dirty="0" smtClean="0"/>
              <a:t>的解推出</a:t>
            </a:r>
            <a:r>
              <a:rPr kumimoji="1" lang="en-US" altLang="zh-CN" dirty="0" smtClean="0"/>
              <a:t>x+1</a:t>
            </a:r>
            <a:r>
              <a:rPr kumimoji="1" lang="zh-CN" altLang="en-US" dirty="0" smtClean="0"/>
              <a:t>或者</a:t>
            </a:r>
            <a:r>
              <a:rPr kumimoji="1" lang="en-US" altLang="zh-CN" dirty="0" smtClean="0"/>
              <a:t>2x</a:t>
            </a:r>
            <a:r>
              <a:rPr kumimoji="1" lang="zh-CN" altLang="en-US" dirty="0" smtClean="0"/>
              <a:t>的解。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Welcome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2016!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给你</a:t>
            </a:r>
            <a:r>
              <a:rPr kumimoji="1" lang="en-US" altLang="zh-CN" dirty="0" smtClean="0"/>
              <a:t>4031</a:t>
            </a:r>
            <a:r>
              <a:rPr kumimoji="1" lang="zh-CN" altLang="en-US" dirty="0" smtClean="0"/>
              <a:t>个数，你要从</a:t>
            </a:r>
            <a:r>
              <a:rPr kumimoji="1" lang="en-US" altLang="zh-CN" dirty="0" smtClean="0"/>
              <a:t>4031</a:t>
            </a:r>
            <a:r>
              <a:rPr kumimoji="1" lang="zh-CN" altLang="en-US" dirty="0" smtClean="0"/>
              <a:t>个数字里面找</a:t>
            </a:r>
            <a:r>
              <a:rPr kumimoji="1" lang="en-US" altLang="zh-CN" dirty="0" smtClean="0"/>
              <a:t>2016</a:t>
            </a:r>
            <a:r>
              <a:rPr kumimoji="1" lang="zh-CN" altLang="en-US" dirty="0" smtClean="0"/>
              <a:t>个数，使得这</a:t>
            </a:r>
            <a:r>
              <a:rPr kumimoji="1" lang="en-US" altLang="zh-CN" dirty="0" smtClean="0"/>
              <a:t>2016</a:t>
            </a:r>
            <a:r>
              <a:rPr kumimoji="1" lang="zh-CN" altLang="en-US" dirty="0" smtClean="0"/>
              <a:t>个数的和为</a:t>
            </a:r>
            <a:r>
              <a:rPr kumimoji="1" lang="en-US" altLang="zh-CN" dirty="0" smtClean="0"/>
              <a:t>2016</a:t>
            </a:r>
            <a:r>
              <a:rPr kumimoji="1" lang="zh-CN" altLang="en-US" dirty="0" smtClean="0"/>
              <a:t>的倍数。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有定理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对任意</a:t>
            </a:r>
            <a:r>
              <a:rPr kumimoji="1" lang="en-US" altLang="zh-CN" dirty="0" smtClean="0"/>
              <a:t>2r-1</a:t>
            </a:r>
            <a:r>
              <a:rPr kumimoji="1" lang="zh-CN" altLang="en-US" dirty="0" smtClean="0"/>
              <a:t>个数一定存在</a:t>
            </a:r>
            <a:r>
              <a:rPr kumimoji="1" lang="en-US" altLang="zh-CN" dirty="0" smtClean="0"/>
              <a:t>r</a:t>
            </a:r>
            <a:r>
              <a:rPr kumimoji="1" lang="zh-CN" altLang="en-US" dirty="0" smtClean="0"/>
              <a:t>个数使得它们为</a:t>
            </a:r>
            <a:r>
              <a:rPr kumimoji="1" lang="en-US" altLang="zh-CN" dirty="0" smtClean="0"/>
              <a:t>r</a:t>
            </a:r>
            <a:r>
              <a:rPr kumimoji="1" lang="zh-CN" altLang="en-US" dirty="0" smtClean="0"/>
              <a:t>的倍数。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但是定理的证明不是构造性的。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利用这个定理和</a:t>
            </a:r>
            <a:r>
              <a:rPr kumimoji="1" lang="en-US" altLang="zh-CN" dirty="0" smtClean="0"/>
              <a:t>2016=2^5</a:t>
            </a:r>
            <a:r>
              <a:rPr kumimoji="1" lang="zh-CN" altLang="en-US" dirty="0" smtClean="0"/>
              <a:t>*</a:t>
            </a:r>
            <a:r>
              <a:rPr kumimoji="1" lang="en-US" altLang="zh-CN" dirty="0" smtClean="0"/>
              <a:t>3^2</a:t>
            </a:r>
            <a:r>
              <a:rPr kumimoji="1" lang="zh-CN" altLang="en-US" dirty="0" smtClean="0"/>
              <a:t>*</a:t>
            </a:r>
            <a:r>
              <a:rPr kumimoji="1" lang="en-US" altLang="zh-CN" dirty="0" smtClean="0"/>
              <a:t>7</a:t>
            </a:r>
            <a:r>
              <a:rPr kumimoji="1" lang="zh-CN" altLang="en-US" dirty="0" smtClean="0"/>
              <a:t>进行构造。</a:t>
            </a:r>
            <a:endParaRPr kumimoji="1" lang="zh-CN" altLang="en-US" dirty="0" smtClean="0"/>
          </a:p>
          <a:p>
            <a:endParaRPr kumimoji="1" lang="zh-CN" altLang="en-US" dirty="0" smtClean="0"/>
          </a:p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首先任意三个数至少两个同奇偶，那么把这两个合并起来。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重复这个过程可以得到</a:t>
            </a:r>
            <a:r>
              <a:rPr kumimoji="1" lang="en-US" altLang="zh-CN" dirty="0" smtClean="0"/>
              <a:t>2015</a:t>
            </a:r>
            <a:r>
              <a:rPr kumimoji="1" lang="zh-CN" altLang="en-US" dirty="0" smtClean="0"/>
              <a:t>个数，每个数都是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的倍数，要选</a:t>
            </a:r>
            <a:r>
              <a:rPr kumimoji="1" lang="en-US" altLang="zh-CN" dirty="0" smtClean="0"/>
              <a:t>1008</a:t>
            </a:r>
            <a:r>
              <a:rPr kumimoji="1" lang="zh-CN" altLang="en-US" dirty="0" smtClean="0"/>
              <a:t>个使得和为</a:t>
            </a:r>
            <a:r>
              <a:rPr kumimoji="1" lang="en-US" altLang="zh-CN" dirty="0" smtClean="0"/>
              <a:t>2016</a:t>
            </a:r>
            <a:r>
              <a:rPr kumimoji="1" lang="zh-CN" altLang="en-US" dirty="0" smtClean="0"/>
              <a:t>的倍数。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将所有数除二之后接着构造，转化到</a:t>
            </a:r>
            <a:r>
              <a:rPr kumimoji="1" lang="en-US" altLang="zh-CN" dirty="0" smtClean="0"/>
              <a:t>r=63</a:t>
            </a:r>
            <a:r>
              <a:rPr kumimoji="1" lang="zh-CN" altLang="en-US" dirty="0" smtClean="0"/>
              <a:t>的情况。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对于</a:t>
            </a:r>
            <a:r>
              <a:rPr kumimoji="1" lang="en-US" altLang="zh-CN" dirty="0" smtClean="0"/>
              <a:t>3</a:t>
            </a:r>
            <a:r>
              <a:rPr kumimoji="1" lang="zh-CN" altLang="en-US" dirty="0" smtClean="0"/>
              <a:t>，有任意</a:t>
            </a:r>
            <a:r>
              <a:rPr kumimoji="1" lang="en-US" altLang="zh-CN" dirty="0" smtClean="0"/>
              <a:t>5</a:t>
            </a:r>
            <a:r>
              <a:rPr kumimoji="1" lang="zh-CN" altLang="en-US" dirty="0" smtClean="0"/>
              <a:t>个中存在</a:t>
            </a:r>
            <a:r>
              <a:rPr kumimoji="1" lang="en-US" altLang="zh-CN" dirty="0" smtClean="0"/>
              <a:t>3</a:t>
            </a:r>
            <a:r>
              <a:rPr kumimoji="1" lang="zh-CN" altLang="en-US" dirty="0" smtClean="0"/>
              <a:t>个数是</a:t>
            </a:r>
            <a:r>
              <a:rPr kumimoji="1" lang="en-US" altLang="zh-CN" dirty="0" smtClean="0"/>
              <a:t>3</a:t>
            </a:r>
            <a:r>
              <a:rPr kumimoji="1" lang="zh-CN" altLang="en-US" dirty="0" smtClean="0"/>
              <a:t>的倍数，所以也可以接着构造。</a:t>
            </a:r>
            <a:endParaRPr kumimoji="1" lang="zh-CN" altLang="en-US" dirty="0"/>
          </a:p>
          <a:p>
            <a:r>
              <a:rPr kumimoji="1" lang="en-US" altLang="zh-CN" dirty="0" smtClean="0"/>
              <a:t>7</a:t>
            </a:r>
            <a:r>
              <a:rPr kumimoji="1" lang="zh-CN" altLang="en-US" dirty="0" smtClean="0"/>
              <a:t>同理。</a:t>
            </a:r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ECF 2024 </a:t>
            </a:r>
            <a:r>
              <a:rPr lang="en-US" altLang="zh-CN" dirty="0" smtClean="0"/>
              <a:t>F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给一个真值表，让你用</a:t>
            </a:r>
            <a:r>
              <a:rPr lang="en-US" altLang="zh-CN" dirty="0"/>
              <a:t> &amp; | </a:t>
            </a:r>
            <a:r>
              <a:rPr lang="zh-CN" altLang="en-US" dirty="0"/>
              <a:t>构造一个布尔表达式。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Solution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充要条件：</a:t>
            </a:r>
            <a:r>
              <a:rPr lang="zh-CN" altLang="en-US" dirty="0"/>
              <a:t>单调性。</a:t>
            </a:r>
            <a:endParaRPr lang="zh-CN" altLang="en-US" dirty="0"/>
          </a:p>
          <a:p>
            <a:r>
              <a:rPr lang="zh-CN" altLang="en-US" dirty="0"/>
              <a:t>构造方法：</a:t>
            </a:r>
            <a:r>
              <a:rPr lang="en-US" altLang="zh-CN" dirty="0"/>
              <a:t>(x1 and (f1)) or (f2)</a:t>
            </a:r>
            <a:r>
              <a:rPr lang="zh-CN" altLang="en-US" dirty="0"/>
              <a:t>，这样直接构造步数</a:t>
            </a:r>
            <a:r>
              <a:rPr lang="zh-CN" altLang="en-US" dirty="0"/>
              <a:t>会爆。</a:t>
            </a:r>
            <a:endParaRPr lang="zh-CN" altLang="en-US" dirty="0"/>
          </a:p>
          <a:p>
            <a:r>
              <a:rPr lang="zh-CN" altLang="en-US" dirty="0"/>
              <a:t>需要只考虑边界上的取值，或者对于变量少的时候</a:t>
            </a:r>
            <a:r>
              <a:rPr lang="zh-CN" altLang="en-US" dirty="0"/>
              <a:t>进行爆搜。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Harbin 2024 </a:t>
            </a:r>
            <a:r>
              <a:rPr lang="en-US" altLang="zh-CN" dirty="0" smtClean="0"/>
              <a:t>A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构造一个</a:t>
            </a:r>
            <a:r>
              <a:rPr lang="en-US" altLang="zh-CN" dirty="0"/>
              <a:t> NFA</a:t>
            </a:r>
            <a:r>
              <a:rPr lang="zh-CN" altLang="en-US" dirty="0"/>
              <a:t>，使得恰好能识别</a:t>
            </a:r>
            <a:r>
              <a:rPr lang="en-US" altLang="zh-CN" dirty="0"/>
              <a:t> L </a:t>
            </a:r>
            <a:r>
              <a:rPr lang="zh-CN" altLang="en-US" dirty="0"/>
              <a:t>到</a:t>
            </a:r>
            <a:r>
              <a:rPr lang="en-US" altLang="zh-CN" dirty="0"/>
              <a:t> R </a:t>
            </a:r>
            <a:r>
              <a:rPr lang="zh-CN" altLang="en-US" dirty="0"/>
              <a:t>之间的数字的</a:t>
            </a:r>
            <a:r>
              <a:rPr lang="zh-CN" altLang="en-US" dirty="0"/>
              <a:t>二进制表示。</a:t>
            </a:r>
            <a:endParaRPr lang="zh-CN" altLang="en-US" dirty="0"/>
          </a:p>
          <a:p>
            <a:r>
              <a:rPr lang="en-US" altLang="zh-CN" dirty="0"/>
              <a:t>R &lt;= 10^6, </a:t>
            </a:r>
            <a:r>
              <a:rPr lang="zh-CN" altLang="en-US" dirty="0"/>
              <a:t>节点个数</a:t>
            </a:r>
            <a:r>
              <a:rPr lang="en-US" altLang="zh-CN" dirty="0"/>
              <a:t> 200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Solution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好像就是直接建线段树，一个完整的子树显然可以用一条链</a:t>
            </a:r>
            <a:r>
              <a:rPr lang="zh-CN" altLang="en-US" dirty="0"/>
              <a:t>表示。</a:t>
            </a:r>
            <a:endParaRPr lang="zh-CN" altLang="en-US" dirty="0"/>
          </a:p>
          <a:p>
            <a:r>
              <a:rPr lang="zh-CN" altLang="en-US" dirty="0"/>
              <a:t>这样做节点数是</a:t>
            </a:r>
            <a:r>
              <a:rPr lang="en-US" altLang="zh-CN" dirty="0"/>
              <a:t> O(log R) </a:t>
            </a:r>
            <a:r>
              <a:rPr lang="zh-CN" altLang="en-US" dirty="0"/>
              <a:t>的，</a:t>
            </a:r>
            <a:r>
              <a:rPr lang="zh-CN" altLang="en-US" dirty="0"/>
              <a:t>限制比较宽松。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Jinan 2024 D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https://qoj.ac/contest/1843/problem/9550</a:t>
            </a:r>
            <a:endParaRPr lang="en-US" altLang="zh-CN" dirty="0"/>
          </a:p>
          <a:p>
            <a:r>
              <a:rPr lang="zh-CN" altLang="en-US" dirty="0"/>
              <a:t>构造一个神秘的程序，使得恰好执行</a:t>
            </a:r>
            <a:r>
              <a:rPr lang="en-US" altLang="zh-CN" dirty="0"/>
              <a:t> k </a:t>
            </a:r>
            <a:r>
              <a:rPr lang="zh-CN" altLang="en-US" dirty="0"/>
              <a:t>步。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Solution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念一下题解，基本思路还是</a:t>
            </a:r>
            <a:r>
              <a:rPr lang="en-US" altLang="zh-CN" dirty="0"/>
              <a:t> +2 </a:t>
            </a:r>
            <a:r>
              <a:rPr lang="zh-CN" altLang="en-US" dirty="0"/>
              <a:t>和</a:t>
            </a:r>
            <a:r>
              <a:rPr lang="en-US" altLang="zh-CN" dirty="0"/>
              <a:t> x 2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x 2 </a:t>
            </a:r>
            <a:r>
              <a:rPr lang="zh-CN" altLang="en-US" dirty="0"/>
              <a:t>大概就是执行完，</a:t>
            </a:r>
            <a:r>
              <a:rPr lang="en-US" altLang="zh-CN" dirty="0"/>
              <a:t>push c </a:t>
            </a:r>
            <a:r>
              <a:rPr lang="zh-CN" altLang="en-US" dirty="0"/>
              <a:t>回到</a:t>
            </a:r>
            <a:r>
              <a:rPr lang="en-US" altLang="zh-CN" dirty="0"/>
              <a:t> 1, pop c </a:t>
            </a:r>
            <a:r>
              <a:rPr lang="zh-CN" altLang="en-US" dirty="0"/>
              <a:t>下一步，</a:t>
            </a:r>
            <a:r>
              <a:rPr lang="zh-CN" altLang="en-US" dirty="0"/>
              <a:t>就能重新执行一次。</a:t>
            </a:r>
            <a:endParaRPr lang="zh-CN" altLang="en-US" dirty="0"/>
          </a:p>
          <a:p>
            <a:r>
              <a:rPr lang="en-US" altLang="zh-CN" dirty="0"/>
              <a:t>+2 </a:t>
            </a:r>
            <a:r>
              <a:rPr lang="zh-CN" altLang="en-US" dirty="0"/>
              <a:t>大概就是加一步</a:t>
            </a:r>
            <a:r>
              <a:rPr lang="en-US" altLang="zh-CN" dirty="0"/>
              <a:t> push c </a:t>
            </a:r>
            <a:r>
              <a:rPr lang="zh-CN" altLang="en-US" dirty="0"/>
              <a:t>回到自己，</a:t>
            </a:r>
            <a:r>
              <a:rPr lang="en-US" altLang="zh-CN" dirty="0"/>
              <a:t>pop c </a:t>
            </a:r>
            <a:r>
              <a:rPr lang="zh-CN" altLang="en-US" dirty="0"/>
              <a:t>下一步。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Reverse </a:t>
            </a:r>
            <a:r>
              <a:rPr lang="en-US" altLang="zh-CN" dirty="0"/>
              <a:t>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的一个序列，每次可以</a:t>
            </a:r>
            <a:r>
              <a:rPr lang="en-US" altLang="zh-CN" dirty="0" smtClean="0"/>
              <a:t>reverse</a:t>
            </a:r>
            <a:r>
              <a:rPr lang="zh-CN" altLang="en-US" dirty="0" smtClean="0"/>
              <a:t>一个区间，代价是区间长度。在总代价不超过</a:t>
            </a:r>
            <a:r>
              <a:rPr lang="en-US" altLang="zh-CN" dirty="0" smtClean="0"/>
              <a:t>4*10^6</a:t>
            </a:r>
            <a:r>
              <a:rPr lang="zh-CN" altLang="en-US" dirty="0"/>
              <a:t>的条件</a:t>
            </a:r>
            <a:r>
              <a:rPr lang="zh-CN" altLang="en-US" dirty="0" smtClean="0"/>
              <a:t>下</a:t>
            </a:r>
            <a:r>
              <a:rPr lang="en-US" altLang="zh-CN" dirty="0" smtClean="0"/>
              <a:t>sort</a:t>
            </a:r>
            <a:r>
              <a:rPr lang="zh-CN" altLang="en-US" dirty="0" smtClean="0"/>
              <a:t>这个序列。</a:t>
            </a:r>
            <a:endParaRPr lang="zh-CN" altLang="en-US" dirty="0" smtClean="0"/>
          </a:p>
          <a:p>
            <a:r>
              <a:rPr lang="en-US" altLang="zh-CN" dirty="0" smtClean="0"/>
              <a:t>n&lt;=3.2e4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根据给出的界的范围来考虑可能的构造，上界约等于</a:t>
            </a:r>
            <a:r>
              <a:rPr lang="en-US" altLang="zh-CN" dirty="0" smtClean="0">
                <a:latin typeface="Calibri"/>
              </a:rPr>
              <a:t>≈</a:t>
            </a:r>
            <a:r>
              <a:rPr lang="en-US" altLang="zh-CN" dirty="0" smtClean="0"/>
              <a:t>nlog^2n</a:t>
            </a:r>
            <a:endParaRPr lang="en-US" altLang="zh-CN" dirty="0"/>
          </a:p>
          <a:p>
            <a:r>
              <a:rPr lang="zh-CN" altLang="en-US" dirty="0" smtClean="0"/>
              <a:t>重要思路：模仿</a:t>
            </a:r>
            <a:r>
              <a:rPr lang="zh-CN" altLang="en-US" dirty="0"/>
              <a:t>快速排序进行</a:t>
            </a:r>
            <a:r>
              <a:rPr lang="zh-CN" altLang="en-US" dirty="0" smtClean="0"/>
              <a:t>构造。</a:t>
            </a:r>
            <a:endParaRPr lang="zh-CN" altLang="en-US" dirty="0" smtClean="0"/>
          </a:p>
          <a:p>
            <a:r>
              <a:rPr lang="zh-CN" altLang="en-US" dirty="0"/>
              <a:t>快排每次确定一个元素的位置，再对左右两边进行分治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r>
              <a:rPr lang="zh-CN" altLang="en-US" dirty="0" smtClean="0"/>
              <a:t>那么构造</a:t>
            </a:r>
            <a:r>
              <a:rPr lang="zh-CN" altLang="en-US" dirty="0"/>
              <a:t>算法</a:t>
            </a:r>
            <a:r>
              <a:rPr lang="zh-CN" altLang="en-US" dirty="0" smtClean="0"/>
              <a:t>每次要以</a:t>
            </a:r>
            <a:r>
              <a:rPr lang="zh-CN" altLang="en-US" dirty="0"/>
              <a:t>不超过</a:t>
            </a:r>
            <a:r>
              <a:rPr lang="en-US" altLang="zh-CN" dirty="0" err="1"/>
              <a:t>nlogn</a:t>
            </a:r>
            <a:r>
              <a:rPr lang="zh-CN" altLang="en-US" dirty="0"/>
              <a:t>的代价确定一个元素的位置，再对左右两边进行分治。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如果确定了中间元素，那么每个元素实际上只是</a:t>
            </a:r>
            <a:r>
              <a:rPr lang="en-US" altLang="zh-CN" dirty="0" smtClean="0"/>
              <a:t>0</a:t>
            </a:r>
            <a:r>
              <a:rPr lang="zh-CN" altLang="en-US" dirty="0" smtClean="0"/>
              <a:t>或者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r>
              <a:rPr lang="zh-CN" altLang="en-US" dirty="0" smtClean="0"/>
              <a:t>对于一个</a:t>
            </a:r>
            <a:r>
              <a:rPr lang="en-US" altLang="zh-CN" dirty="0" smtClean="0"/>
              <a:t>01</a:t>
            </a:r>
            <a:r>
              <a:rPr lang="zh-CN" altLang="en-US" dirty="0" smtClean="0"/>
              <a:t>序列以</a:t>
            </a:r>
            <a:r>
              <a:rPr lang="en-US" altLang="zh-CN" dirty="0" err="1" smtClean="0"/>
              <a:t>nlogn</a:t>
            </a:r>
            <a:r>
              <a:rPr lang="zh-CN" altLang="en-US" dirty="0" smtClean="0"/>
              <a:t>代价进行排序</a:t>
            </a:r>
            <a:r>
              <a:rPr lang="zh-CN" altLang="en-US" dirty="0"/>
              <a:t>，</a:t>
            </a:r>
            <a:r>
              <a:rPr lang="zh-CN" altLang="en-US" dirty="0" smtClean="0"/>
              <a:t>对于相连的一块</a:t>
            </a:r>
            <a:r>
              <a:rPr lang="en-US" altLang="zh-CN" dirty="0" smtClean="0"/>
              <a:t>0/1</a:t>
            </a:r>
            <a:r>
              <a:rPr lang="zh-CN" altLang="en-US" dirty="0" smtClean="0"/>
              <a:t>显然一起处理。</a:t>
            </a:r>
            <a:endParaRPr lang="zh-CN" altLang="en-US" dirty="0" smtClean="0"/>
          </a:p>
          <a:p>
            <a:r>
              <a:rPr lang="zh-CN" altLang="en-US" dirty="0"/>
              <a:t>直接进行排序，每次交换相邻两块</a:t>
            </a:r>
            <a:r>
              <a:rPr lang="zh-CN" altLang="en-US" dirty="0" smtClean="0"/>
              <a:t>。</a:t>
            </a:r>
            <a:r>
              <a:rPr lang="en-US" altLang="zh-CN" dirty="0" smtClean="0"/>
              <a:t>10101010-</a:t>
            </a:r>
            <a:r>
              <a:rPr lang="en-US" altLang="zh-CN" dirty="0"/>
              <a:t>&gt;01010101-&gt;00101011…</a:t>
            </a:r>
            <a:endParaRPr lang="en-US" altLang="zh-CN" dirty="0"/>
          </a:p>
          <a:p>
            <a:r>
              <a:rPr lang="zh-CN" altLang="en-US" dirty="0" smtClean="0"/>
              <a:t>时间复杂度是</a:t>
            </a:r>
            <a:r>
              <a:rPr lang="en-US" altLang="zh-CN" dirty="0" smtClean="0"/>
              <a:t>O(n^2)</a:t>
            </a:r>
            <a:r>
              <a:rPr lang="zh-CN" altLang="en-US" dirty="0" smtClean="0"/>
              <a:t>的。</a:t>
            </a:r>
            <a:endParaRPr lang="zh-CN" altLang="en-US" dirty="0" smtClean="0"/>
          </a:p>
          <a:p>
            <a:r>
              <a:rPr lang="zh-CN" altLang="en-US" dirty="0" smtClean="0"/>
              <a:t>正确的做法是要隔着一块构造，</a:t>
            </a:r>
            <a:r>
              <a:rPr lang="en-US" altLang="zh-CN" dirty="0" smtClean="0"/>
              <a:t>10101010-&gt;01100110-&gt;00011110-&gt;…</a:t>
            </a:r>
            <a:endParaRPr lang="zh-CN" altLang="en-US" dirty="0" smtClean="0"/>
          </a:p>
          <a:p>
            <a:r>
              <a:rPr lang="zh-CN" altLang="en-US" dirty="0" smtClean="0"/>
              <a:t>每次段的个数都会以</a:t>
            </a:r>
            <a:r>
              <a:rPr lang="en-US" altLang="zh-CN" dirty="0" smtClean="0"/>
              <a:t>1/2</a:t>
            </a:r>
            <a:r>
              <a:rPr lang="zh-CN" altLang="en-US" dirty="0" smtClean="0"/>
              <a:t>的比例减少，所以时间复杂度是</a:t>
            </a:r>
            <a:r>
              <a:rPr lang="en-US" altLang="zh-CN" dirty="0" smtClean="0"/>
              <a:t>O(n</a:t>
            </a:r>
            <a:r>
              <a:rPr lang="zh-CN" altLang="en-US" dirty="0" smtClean="0"/>
              <a:t> </a:t>
            </a:r>
            <a:r>
              <a:rPr lang="en-US" altLang="zh-CN" dirty="0" smtClean="0"/>
              <a:t>log</a:t>
            </a:r>
            <a:r>
              <a:rPr lang="zh-CN" altLang="en-US" dirty="0" smtClean="0"/>
              <a:t> </a:t>
            </a:r>
            <a:r>
              <a:rPr lang="en-US" altLang="zh-CN" dirty="0" smtClean="0"/>
              <a:t>n)</a:t>
            </a:r>
            <a:r>
              <a:rPr lang="zh-CN" altLang="en-US" dirty="0" smtClean="0"/>
              <a:t>的。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Zhengzhou 2024 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https://qoj.ac/contest/1873/problem/9772</a:t>
            </a:r>
            <a:endParaRPr lang="zh-CN" altLang="en-US" dirty="0"/>
          </a:p>
          <a:p>
            <a:br>
              <a:rPr lang="zh-CN" altLang="en-US" dirty="0"/>
            </a:br>
            <a:r>
              <a:rPr lang="zh-CN" altLang="en-US" dirty="0"/>
              <a:t>给你一棵树，每次可以选择匹配</a:t>
            </a:r>
            <a:r>
              <a:rPr lang="en-US" altLang="zh-CN" dirty="0"/>
              <a:t> swap </a:t>
            </a:r>
            <a:r>
              <a:rPr lang="zh-CN" altLang="en-US" dirty="0"/>
              <a:t>一下，让你用不超过</a:t>
            </a:r>
            <a:r>
              <a:rPr lang="en-US" altLang="zh-CN" dirty="0"/>
              <a:t> 3n </a:t>
            </a:r>
            <a:r>
              <a:rPr lang="zh-CN" altLang="en-US" dirty="0"/>
              <a:t>步，把</a:t>
            </a:r>
            <a:r>
              <a:rPr lang="en-US" altLang="zh-CN" dirty="0"/>
              <a:t> p[i] </a:t>
            </a:r>
            <a:r>
              <a:rPr lang="zh-CN" altLang="en-US" dirty="0"/>
              <a:t>变成</a:t>
            </a:r>
            <a:r>
              <a:rPr lang="en-US" altLang="zh-CN" dirty="0"/>
              <a:t> i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694" y="762000"/>
            <a:ext cx="8354888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考虑点分治，先把所有不对的点往上移，然后在根的地方把它</a:t>
            </a:r>
            <a:r>
              <a:rPr lang="en-US" altLang="zh-CN" dirty="0"/>
              <a:t> swap </a:t>
            </a:r>
            <a:r>
              <a:rPr lang="zh-CN" altLang="en-US" dirty="0"/>
              <a:t>到对的</a:t>
            </a:r>
            <a:r>
              <a:rPr lang="zh-CN" altLang="en-US" dirty="0"/>
              <a:t>子树里面去。</a:t>
            </a:r>
            <a:endParaRPr lang="zh-CN" altLang="en-US" dirty="0"/>
          </a:p>
          <a:p>
            <a:r>
              <a:rPr lang="zh-CN" altLang="en-US" dirty="0"/>
              <a:t>最坏在根节点处</a:t>
            </a:r>
            <a:r>
              <a:rPr lang="en-US" altLang="zh-CN" dirty="0"/>
              <a:t> 3 </a:t>
            </a:r>
            <a:r>
              <a:rPr lang="zh-CN" altLang="en-US" dirty="0"/>
              <a:t>步换两个，所以一轮</a:t>
            </a:r>
            <a:r>
              <a:rPr lang="en-US" altLang="zh-CN" dirty="0"/>
              <a:t> 1.5n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后面部分</a:t>
            </a:r>
            <a:r>
              <a:rPr lang="zh-CN" altLang="en-US" dirty="0"/>
              <a:t>可以并行。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增加限制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如果自由度太高反而不好控制。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有的时候增加限制反而会更好做。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还有当归纳构造的时候增加限制也能更方便归纳。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经典问题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给你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个数，找到一个子集使得和为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的倍数。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把限制加强为求一个子串，那么考虑前缀和</a:t>
            </a:r>
            <a:r>
              <a:rPr kumimoji="1" lang="en-US" altLang="zh-CN" dirty="0" smtClean="0"/>
              <a:t>s0,s1,…,</a:t>
            </a:r>
            <a:r>
              <a:rPr kumimoji="1" lang="en-US" altLang="zh-CN" dirty="0" err="1" smtClean="0"/>
              <a:t>sn</a:t>
            </a:r>
            <a:r>
              <a:rPr kumimoji="1" lang="zh-CN" altLang="en-US" dirty="0" smtClean="0"/>
              <a:t>至少有两个是相同的。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it!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记</a:t>
            </a:r>
            <a:r>
              <a:rPr kumimoji="1" lang="en-US" altLang="zh-CN" dirty="0" smtClean="0"/>
              <a:t>f(x)</a:t>
            </a:r>
            <a:r>
              <a:rPr kumimoji="1" lang="zh-CN" altLang="en-US" dirty="0" smtClean="0"/>
              <a:t>为</a:t>
            </a:r>
            <a:r>
              <a:rPr kumimoji="1" lang="en-US" altLang="zh-CN" dirty="0" smtClean="0"/>
              <a:t>x</a:t>
            </a:r>
            <a:r>
              <a:rPr kumimoji="1" lang="zh-CN" altLang="en-US" dirty="0" smtClean="0"/>
              <a:t>的数位和。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求</a:t>
            </a:r>
            <a:r>
              <a:rPr kumimoji="1" lang="en-US" altLang="zh-CN" dirty="0" err="1" smtClean="0"/>
              <a:t>l,r</a:t>
            </a:r>
            <a:r>
              <a:rPr kumimoji="1" lang="zh-CN" altLang="en-US" dirty="0" smtClean="0"/>
              <a:t>使得</a:t>
            </a:r>
            <a:r>
              <a:rPr kumimoji="1" lang="en-US" altLang="zh-CN" dirty="0" smtClean="0"/>
              <a:t>sum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=</a:t>
            </a:r>
            <a:r>
              <a:rPr kumimoji="1" lang="en-US" altLang="zh-CN" dirty="0" err="1" smtClean="0"/>
              <a:t>l..r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P=0</a:t>
            </a:r>
            <a:endParaRPr kumimoji="1" lang="zh-CN" altLang="en-US" dirty="0" smtClean="0"/>
          </a:p>
          <a:p>
            <a:r>
              <a:rPr kumimoji="1" lang="en-US" altLang="zh-CN" dirty="0" smtClean="0"/>
              <a:t>P&lt;=10^18,</a:t>
            </a:r>
            <a:r>
              <a:rPr kumimoji="1" lang="zh-CN" altLang="en-US" dirty="0" smtClean="0"/>
              <a:t> 要求</a:t>
            </a:r>
            <a:r>
              <a:rPr kumimoji="1" lang="en-US" altLang="zh-CN" dirty="0" err="1" smtClean="0"/>
              <a:t>l,r</a:t>
            </a:r>
            <a:r>
              <a:rPr kumimoji="1" lang="en-US" altLang="zh-CN" dirty="0" smtClean="0"/>
              <a:t>&lt;=10^200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由于有两个参数</a:t>
            </a:r>
            <a:r>
              <a:rPr kumimoji="1" lang="en-US" altLang="zh-CN" dirty="0" err="1" smtClean="0"/>
              <a:t>l,r</a:t>
            </a:r>
            <a:r>
              <a:rPr kumimoji="1" lang="zh-CN" altLang="en-US" dirty="0" smtClean="0"/>
              <a:t>，自由度太大，所以我们加一个限制使得</a:t>
            </a:r>
            <a:r>
              <a:rPr kumimoji="1" lang="en-US" altLang="zh-CN" dirty="0" smtClean="0"/>
              <a:t>r=l+10^19-1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这个时候我们注意到将</a:t>
            </a:r>
            <a:r>
              <a:rPr kumimoji="1" lang="en-US" altLang="zh-CN" dirty="0" smtClean="0"/>
              <a:t>[</a:t>
            </a:r>
            <a:r>
              <a:rPr kumimoji="1" lang="en-US" altLang="zh-CN" dirty="0" err="1" smtClean="0"/>
              <a:t>l,r</a:t>
            </a:r>
            <a:r>
              <a:rPr kumimoji="1" lang="en-US" altLang="zh-CN" dirty="0" smtClean="0"/>
              <a:t>]</a:t>
            </a:r>
            <a:r>
              <a:rPr kumimoji="1" lang="zh-CN" altLang="en-US" dirty="0" smtClean="0"/>
              <a:t>变成</a:t>
            </a:r>
            <a:r>
              <a:rPr kumimoji="1" lang="en-US" altLang="zh-CN" dirty="0" smtClean="0"/>
              <a:t>[l+1,r+1]</a:t>
            </a:r>
            <a:r>
              <a:rPr kumimoji="1" lang="zh-CN" altLang="en-US" dirty="0" smtClean="0"/>
              <a:t>，整体上加上了</a:t>
            </a:r>
            <a:r>
              <a:rPr kumimoji="1" lang="en-US" altLang="zh-CN" dirty="0" smtClean="0"/>
              <a:t>f(r+1)</a:t>
            </a:r>
            <a:r>
              <a:rPr kumimoji="1" lang="zh-CN" altLang="en-US" dirty="0" smtClean="0"/>
              <a:t>减去了</a:t>
            </a:r>
            <a:r>
              <a:rPr kumimoji="1" lang="en-US" altLang="zh-CN" dirty="0" smtClean="0"/>
              <a:t>f(l)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而</a:t>
            </a:r>
            <a:r>
              <a:rPr kumimoji="1" lang="en-US" altLang="zh-CN" dirty="0" smtClean="0"/>
              <a:t>r+1</a:t>
            </a:r>
            <a:r>
              <a:rPr kumimoji="1" lang="zh-CN" altLang="en-US" dirty="0" smtClean="0"/>
              <a:t>和</a:t>
            </a:r>
            <a:r>
              <a:rPr kumimoji="1" lang="en-US" altLang="zh-CN" dirty="0" smtClean="0"/>
              <a:t>l</a:t>
            </a:r>
            <a:r>
              <a:rPr kumimoji="1" lang="zh-CN" altLang="en-US" dirty="0" smtClean="0"/>
              <a:t>只差一位，也就是</a:t>
            </a:r>
            <a:r>
              <a:rPr kumimoji="1" lang="en-US" altLang="zh-CN" dirty="0" smtClean="0"/>
              <a:t>f(r+1)-f(l)=1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所以只要算出初值</a:t>
            </a:r>
            <a:r>
              <a:rPr kumimoji="1" lang="en-US" altLang="zh-CN" dirty="0" smtClean="0"/>
              <a:t>f(1)+…+f(10^19)</a:t>
            </a:r>
            <a:r>
              <a:rPr kumimoji="1" lang="zh-CN" altLang="en-US" dirty="0" smtClean="0"/>
              <a:t>，然后看和</a:t>
            </a:r>
            <a:r>
              <a:rPr kumimoji="1" lang="en-US" altLang="zh-CN" dirty="0" smtClean="0"/>
              <a:t>P</a:t>
            </a:r>
            <a:r>
              <a:rPr kumimoji="1" lang="zh-CN" altLang="en-US" dirty="0" smtClean="0"/>
              <a:t>差多少，往右移这么多个即可。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Double Knapsack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给定两个大小为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</a:t>
            </a:r>
            <a:r>
              <a:rPr lang="zh-CN" altLang="en-US" dirty="0"/>
              <a:t>可</a:t>
            </a:r>
            <a:r>
              <a:rPr lang="zh-CN" altLang="en-US" dirty="0" smtClean="0"/>
              <a:t>重集</a:t>
            </a:r>
            <a:r>
              <a:rPr lang="en-US" altLang="zh-CN" dirty="0" smtClean="0"/>
              <a:t>A,</a:t>
            </a:r>
            <a:r>
              <a:rPr lang="zh-CN" altLang="en-US" dirty="0" smtClean="0"/>
              <a:t> </a:t>
            </a:r>
            <a:r>
              <a:rPr lang="en-US" altLang="zh-CN" dirty="0" smtClean="0"/>
              <a:t>B </a:t>
            </a:r>
            <a:r>
              <a:rPr lang="zh-CN" altLang="en-US" dirty="0"/>
              <a:t>，两个数集中的元素均为</a:t>
            </a:r>
            <a:r>
              <a:rPr lang="en-US" altLang="zh-CN" dirty="0"/>
              <a:t>[</a:t>
            </a:r>
            <a:r>
              <a:rPr lang="en-US" altLang="zh-CN" dirty="0" smtClean="0"/>
              <a:t>1, </a:t>
            </a:r>
            <a:r>
              <a:rPr lang="en-US" altLang="zh-CN" dirty="0"/>
              <a:t>n</a:t>
            </a:r>
            <a:r>
              <a:rPr lang="en-US" altLang="zh-CN" dirty="0" smtClean="0"/>
              <a:t>]</a:t>
            </a:r>
            <a:r>
              <a:rPr lang="zh-CN" altLang="en-US" dirty="0" smtClean="0"/>
              <a:t>的</a:t>
            </a:r>
            <a:r>
              <a:rPr lang="zh-CN" altLang="en-US" dirty="0"/>
              <a:t>整数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lang="zh-CN" altLang="en-US" dirty="0" smtClean="0"/>
              <a:t>现在</a:t>
            </a:r>
            <a:r>
              <a:rPr lang="zh-CN" altLang="en-US" dirty="0"/>
              <a:t>要求在两个数集中各找出一个非空子集</a:t>
            </a:r>
            <a:r>
              <a:rPr lang="en-US" altLang="zh-CN" dirty="0" smtClean="0"/>
              <a:t>(</a:t>
            </a:r>
            <a:r>
              <a:rPr lang="zh-CN" altLang="en-US" dirty="0" smtClean="0"/>
              <a:t>子集</a:t>
            </a:r>
            <a:r>
              <a:rPr lang="zh-CN" altLang="en-US" dirty="0"/>
              <a:t>也为可</a:t>
            </a:r>
            <a:r>
              <a:rPr lang="zh-CN" altLang="en-US" dirty="0" smtClean="0"/>
              <a:t>重集</a:t>
            </a:r>
            <a:r>
              <a:rPr lang="en-US" altLang="zh-CN" dirty="0"/>
              <a:t>) </a:t>
            </a:r>
            <a:r>
              <a:rPr lang="zh-CN" altLang="en-US" dirty="0"/>
              <a:t>，满足两个集合中元素的和相等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kumimoji="1" lang="en-US" altLang="zh-CN" dirty="0"/>
              <a:t>n</a:t>
            </a:r>
            <a:r>
              <a:rPr kumimoji="1" lang="en-US" altLang="zh-CN" dirty="0" smtClean="0"/>
              <a:t>&lt;=10^6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加限制使得选的为两个连续的段。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不妨设</a:t>
            </a:r>
            <a:r>
              <a:rPr kumimoji="1" lang="en-US" altLang="zh-CN" dirty="0" smtClean="0"/>
              <a:t>SA&gt;=SB</a:t>
            </a:r>
            <a:r>
              <a:rPr kumimoji="1" lang="zh-CN" altLang="en-US" dirty="0" smtClean="0"/>
              <a:t>，记</a:t>
            </a:r>
            <a:r>
              <a:rPr kumimoji="1" lang="en-US" altLang="zh-CN" dirty="0" smtClean="0"/>
              <a:t>SA</a:t>
            </a:r>
            <a:r>
              <a:rPr kumimoji="1" lang="zh-CN" altLang="en-US" dirty="0" smtClean="0"/>
              <a:t>的前缀和为</a:t>
            </a:r>
            <a:r>
              <a:rPr kumimoji="1" lang="en-US" altLang="zh-CN" dirty="0" smtClean="0"/>
              <a:t>SA(1),SA(2),…,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SB</a:t>
            </a:r>
            <a:r>
              <a:rPr kumimoji="1" lang="zh-CN" altLang="en-US" dirty="0" smtClean="0"/>
              <a:t>的前缀和为</a:t>
            </a:r>
            <a:r>
              <a:rPr kumimoji="1" lang="en-US" altLang="zh-CN" dirty="0" smtClean="0"/>
              <a:t>SB(1),SB(2),…</a:t>
            </a:r>
            <a:endParaRPr kumimoji="1" lang="zh-CN" altLang="en-US" dirty="0" smtClean="0"/>
          </a:p>
          <a:p>
            <a:r>
              <a:rPr kumimoji="1" lang="zh-CN" altLang="en-US" dirty="0" smtClean="0"/>
              <a:t>对于每个</a:t>
            </a:r>
            <a:r>
              <a:rPr kumimoji="1" lang="en-US" altLang="zh-CN" dirty="0" smtClean="0"/>
              <a:t>SA(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，找到最大的</a:t>
            </a:r>
            <a:r>
              <a:rPr kumimoji="1" lang="en-US" altLang="zh-CN" dirty="0" smtClean="0"/>
              <a:t>SB(j)</a:t>
            </a:r>
            <a:r>
              <a:rPr kumimoji="1" lang="zh-CN" altLang="en-US" dirty="0" smtClean="0"/>
              <a:t>满足</a:t>
            </a:r>
            <a:r>
              <a:rPr kumimoji="1" lang="en-US" altLang="zh-CN" dirty="0" smtClean="0"/>
              <a:t>SA(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)&gt;=SB(j)</a:t>
            </a:r>
            <a:r>
              <a:rPr kumimoji="1" lang="zh-CN" altLang="en-US" dirty="0" smtClean="0"/>
              <a:t>，这样可以得到</a:t>
            </a:r>
            <a:r>
              <a:rPr kumimoji="1" lang="en-US" altLang="zh-CN" dirty="0" smtClean="0"/>
              <a:t>n+1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SA(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)-SB(j)</a:t>
            </a:r>
            <a:r>
              <a:rPr kumimoji="1" lang="zh-CN" altLang="en-US" dirty="0" smtClean="0"/>
              <a:t>，然而每个都是在</a:t>
            </a:r>
            <a:r>
              <a:rPr kumimoji="1" lang="en-US" altLang="zh-CN" dirty="0" smtClean="0"/>
              <a:t>0</a:t>
            </a:r>
            <a:r>
              <a:rPr kumimoji="1" lang="zh-CN" altLang="en-US" dirty="0" smtClean="0"/>
              <a:t>到</a:t>
            </a:r>
            <a:r>
              <a:rPr kumimoji="1" lang="en-US" altLang="zh-CN" dirty="0" smtClean="0"/>
              <a:t>n-1</a:t>
            </a:r>
            <a:r>
              <a:rPr kumimoji="1" lang="zh-CN" altLang="en-US" dirty="0" smtClean="0"/>
              <a:t>之间。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所以至少有两个是一样的。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于是</a:t>
            </a:r>
            <a:r>
              <a:rPr kumimoji="1" lang="en-US" altLang="zh-CN" dirty="0" smtClean="0"/>
              <a:t>SA(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)-SB(j)=SA(p)-SB(q)</a:t>
            </a:r>
            <a:r>
              <a:rPr kumimoji="1" lang="zh-CN" altLang="en-US" dirty="0" smtClean="0"/>
              <a:t>，即</a:t>
            </a:r>
            <a:r>
              <a:rPr kumimoji="1" lang="en-US" altLang="zh-CN" dirty="0" smtClean="0"/>
              <a:t>SA(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)-SA(p)=SB(j)-SB(q)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Jinan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2020 J</a:t>
            </a:r>
            <a:r>
              <a:rPr kumimoji="1" lang="zh-CN" altLang="en-US" dirty="0" smtClean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https://qoj.ac/contest/2181/problem/12407</a:t>
            </a:r>
            <a:endParaRPr kumimoji="1" lang="zh-CN" altLang="en-US" dirty="0" smtClean="0"/>
          </a:p>
          <a:p>
            <a:r>
              <a:rPr kumimoji="1" lang="zh-CN" altLang="en-US" dirty="0" smtClean="0"/>
              <a:t>给你一棵树，让你给每个点赋值，使得有边</a:t>
            </a:r>
            <a:r>
              <a:rPr kumimoji="1" lang="en-US" altLang="zh-CN" dirty="0" err="1" smtClean="0"/>
              <a:t>iff</a:t>
            </a:r>
            <a:r>
              <a:rPr kumimoji="1" lang="zh-CN" altLang="en-US" dirty="0" smtClean="0"/>
              <a:t> 两个数</a:t>
            </a:r>
            <a:r>
              <a:rPr kumimoji="1" lang="en-US" altLang="zh-CN" dirty="0" smtClean="0"/>
              <a:t>or</a:t>
            </a:r>
            <a:r>
              <a:rPr kumimoji="1" lang="zh-CN" altLang="en-US" dirty="0" smtClean="0"/>
              <a:t>起来等于</a:t>
            </a:r>
            <a:r>
              <a:rPr kumimoji="1" lang="en-US" altLang="zh-CN" dirty="0" smtClean="0"/>
              <a:t>2^60-1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r>
              <a:rPr kumimoji="1" lang="en-US" altLang="zh-CN" dirty="0"/>
              <a:t>n</a:t>
            </a:r>
            <a:r>
              <a:rPr kumimoji="1" lang="en-US" altLang="zh-CN" dirty="0" smtClean="0"/>
              <a:t>&lt;=100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dirty="0" smtClean="0"/>
              <a:t>Solution</a:t>
            </a:r>
            <a:endParaRPr kumimoji="1"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其实对于任意二分图都可行，首先在左右末两位等于</a:t>
            </a:r>
            <a:r>
              <a:rPr kumimoji="1" lang="en-US" altLang="zh-CN" dirty="0"/>
              <a:t> 01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10</a:t>
            </a:r>
            <a:r>
              <a:rPr kumimoji="1" lang="zh-CN" altLang="en-US" dirty="0"/>
              <a:t>，内部</a:t>
            </a:r>
            <a:r>
              <a:rPr kumimoji="1" lang="zh-CN" altLang="en-US" dirty="0"/>
              <a:t>不会连边。</a:t>
            </a:r>
            <a:endParaRPr kumimoji="1" lang="zh-CN" altLang="en-US" dirty="0"/>
          </a:p>
          <a:p>
            <a:r>
              <a:rPr kumimoji="1" lang="zh-CN" altLang="en-US" dirty="0"/>
              <a:t>然后左边改成全集减其中一位，右边选择对应的位</a:t>
            </a:r>
            <a:r>
              <a:rPr kumimoji="1" lang="zh-CN" altLang="en-US" dirty="0"/>
              <a:t>连上去</a:t>
            </a:r>
            <a:r>
              <a:rPr kumimoji="1" lang="zh-CN" altLang="en-US" dirty="0"/>
              <a:t>即可。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待定参数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也是增强条件的一种，先考虑构造某种序列，但保留一定的自由度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参数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求出答案和参数之间的关系，然后确定这些参数。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首先答案和参数之间的关系要简单，并且这些参数的确定要简单。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其次参数的自由度要保证所有的答案都能构造出来。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Virtual </a:t>
            </a:r>
            <a:r>
              <a:rPr lang="en-US" altLang="zh-CN" b="1" dirty="0" smtClean="0"/>
              <a:t>Participation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构造一个字符集大小没有限制的字符串，使得不同的子串个数恰好为</a:t>
            </a:r>
            <a:r>
              <a:rPr kumimoji="1" lang="en-US" altLang="zh-CN" dirty="0" smtClean="0"/>
              <a:t>K</a:t>
            </a:r>
            <a:r>
              <a:rPr kumimoji="1" lang="zh-CN" altLang="en-US" dirty="0" smtClean="0"/>
              <a:t>。</a:t>
            </a:r>
            <a:endParaRPr kumimoji="1" lang="zh-CN" altLang="en-US" dirty="0"/>
          </a:p>
          <a:p>
            <a:r>
              <a:rPr kumimoji="1" lang="en-US" altLang="zh-CN" dirty="0" smtClean="0"/>
              <a:t>K&lt;=1e9</a:t>
            </a:r>
            <a:r>
              <a:rPr kumimoji="1" lang="zh-CN" altLang="en-US" dirty="0"/>
              <a:t>，</a:t>
            </a:r>
            <a:r>
              <a:rPr kumimoji="1" lang="zh-CN" altLang="en-US" dirty="0" smtClean="0"/>
              <a:t>要求串长不超过</a:t>
            </a:r>
            <a:r>
              <a:rPr kumimoji="1" lang="en-US" altLang="zh-CN" dirty="0" smtClean="0"/>
              <a:t>1e5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假设序列为</a:t>
            </a:r>
            <a:r>
              <a:rPr kumimoji="1" lang="en-US" altLang="zh-CN" dirty="0" smtClean="0"/>
              <a:t>11112222223…</a:t>
            </a:r>
            <a:endParaRPr kumimoji="1" lang="zh-CN" altLang="en-US" dirty="0" smtClean="0"/>
          </a:p>
          <a:p>
            <a:r>
              <a:rPr kumimoji="1" lang="zh-CN" altLang="en-US" dirty="0" smtClean="0"/>
              <a:t>假设有</a:t>
            </a:r>
            <a:r>
              <a:rPr kumimoji="1" lang="en-US" altLang="zh-CN" dirty="0" smtClean="0"/>
              <a:t>c1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1,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c2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2,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…,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cm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m</a:t>
            </a:r>
            <a:r>
              <a:rPr kumimoji="1" lang="zh-CN" altLang="en-US" dirty="0" smtClean="0"/>
              <a:t>，那么总的不同的子串个数为总长度减去</a:t>
            </a:r>
            <a:r>
              <a:rPr kumimoji="1" lang="en-US" altLang="zh-CN" dirty="0" smtClean="0"/>
              <a:t>C(ci,2)</a:t>
            </a:r>
            <a:r>
              <a:rPr kumimoji="1" lang="zh-CN" altLang="en-US" dirty="0" smtClean="0"/>
              <a:t>的和。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因为除了全是同一个字母串，剩下的必定两两不同。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所以首先确定这个串的长度，然后差值分解成若干个三角数的和，使用贪心即可。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注意小的情况可能会有反例，需要特判。</a:t>
            </a:r>
            <a:endParaRPr kumimoji="1" lang="zh-CN" altLang="en-US" dirty="0" smtClean="0"/>
          </a:p>
          <a:p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Test for </a:t>
            </a:r>
            <a:r>
              <a:rPr lang="en-US" altLang="zh-CN" b="1" dirty="0" err="1" smtClean="0"/>
              <a:t>Rikka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构造一个有向简单图，使得从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号点走</a:t>
            </a:r>
            <a:r>
              <a:rPr kumimoji="1" lang="en-US" altLang="zh-CN" dirty="0" smtClean="0"/>
              <a:t>m</a:t>
            </a:r>
            <a:r>
              <a:rPr kumimoji="1" lang="zh-CN" altLang="en-US" dirty="0" smtClean="0"/>
              <a:t>步到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号点的方案数恰好为</a:t>
            </a:r>
            <a:r>
              <a:rPr kumimoji="1" lang="en-US" altLang="zh-CN" dirty="0" smtClean="0"/>
              <a:t>K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en-US" altLang="zh-CN" dirty="0" smtClean="0"/>
              <a:t>K&lt;=1e18,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n,m</a:t>
            </a:r>
            <a:r>
              <a:rPr kumimoji="1" lang="en-US" altLang="zh-CN" dirty="0" smtClean="0"/>
              <a:t>&lt;=30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首先这个题考虑之前的*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＋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的思路，发现一个严重的问题，就是步数和点数都完全不够，所以得另辟蹊径。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首先我们想一下怎么构造步数很多的方案，一个完全图就满足条件。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然后考虑怎么控制完全图，首先假设我们从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号点，连向一个</a:t>
            </a:r>
            <a:r>
              <a:rPr kumimoji="1" lang="en-US" altLang="zh-CN" dirty="0" smtClean="0"/>
              <a:t>C</a:t>
            </a:r>
            <a:r>
              <a:rPr kumimoji="1" lang="zh-CN" altLang="en-US" dirty="0" smtClean="0"/>
              <a:t>的团，那么</a:t>
            </a:r>
            <a:r>
              <a:rPr kumimoji="1" lang="en-US" altLang="zh-CN" dirty="0" err="1" smtClean="0"/>
              <a:t>i</a:t>
            </a:r>
            <a:r>
              <a:rPr kumimoji="1" lang="zh-CN" altLang="en-US" dirty="0" smtClean="0"/>
              <a:t>步之后每个点的步数都是</a:t>
            </a:r>
            <a:r>
              <a:rPr kumimoji="1" lang="en-US" altLang="zh-CN" dirty="0" smtClean="0"/>
              <a:t>C^(i-1)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接着考虑如何把这些点同步地导到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号点。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连一条长度为</a:t>
            </a:r>
            <a:r>
              <a:rPr kumimoji="1" lang="en-US" altLang="zh-CN" dirty="0"/>
              <a:t>D</a:t>
            </a:r>
            <a:r>
              <a:rPr kumimoji="1" lang="zh-CN" altLang="en-US" dirty="0" smtClean="0"/>
              <a:t>的链，如果上面团中的点连到了链上倒数第</a:t>
            </a:r>
            <a:r>
              <a:rPr kumimoji="1" lang="en-US" altLang="zh-CN" dirty="0" err="1" smtClean="0"/>
              <a:t>i</a:t>
            </a:r>
            <a:r>
              <a:rPr kumimoji="1" lang="zh-CN" altLang="en-US" dirty="0" smtClean="0"/>
              <a:t>个点，那么步数为</a:t>
            </a:r>
            <a:r>
              <a:rPr kumimoji="1" lang="en-US" altLang="zh-CN" dirty="0" smtClean="0"/>
              <a:t>C^(m-i-1)</a:t>
            </a:r>
            <a:r>
              <a:rPr kumimoji="1" lang="zh-CN" altLang="en-US" dirty="0" smtClean="0"/>
              <a:t>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所以参数为这个团中有多少个点连到了这条链上，这个很容易可以确定。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同时</a:t>
            </a:r>
            <a:r>
              <a:rPr kumimoji="1" lang="en-US" altLang="zh-CN" dirty="0" smtClean="0"/>
              <a:t>C+D+1&lt;=30</a:t>
            </a:r>
            <a:r>
              <a:rPr kumimoji="1" lang="zh-CN" altLang="en-US" dirty="0" smtClean="0"/>
              <a:t>，而能表达的最大的数值就是</a:t>
            </a:r>
            <a:r>
              <a:rPr kumimoji="1" lang="en-US" altLang="zh-CN" dirty="0" smtClean="0"/>
              <a:t>C^(D-1)-1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取</a:t>
            </a:r>
            <a:r>
              <a:rPr kumimoji="1" lang="en-US" altLang="zh-CN" dirty="0" smtClean="0"/>
              <a:t>C=9,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D=20</a:t>
            </a:r>
            <a:r>
              <a:rPr kumimoji="1" lang="zh-CN" altLang="en-US" dirty="0" smtClean="0"/>
              <a:t>即可。</a:t>
            </a:r>
            <a:endParaRPr kumimoji="1" lang="zh-CN" altLang="en-US" dirty="0" smtClean="0"/>
          </a:p>
          <a:p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Festival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构造一个字符串，使得恰好有</a:t>
            </a:r>
            <a:r>
              <a:rPr kumimoji="1" lang="en-US" altLang="zh-CN" dirty="0" smtClean="0"/>
              <a:t>K</a:t>
            </a:r>
            <a:r>
              <a:rPr kumimoji="1" lang="zh-CN" altLang="en-US" dirty="0" smtClean="0"/>
              <a:t>个子序列为</a:t>
            </a:r>
            <a:r>
              <a:rPr kumimoji="1" lang="en-US" altLang="zh-CN" dirty="0" smtClean="0"/>
              <a:t>FESTIVAL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en-US" altLang="zh-CN" dirty="0" smtClean="0"/>
              <a:t>K&lt;=10^18,</a:t>
            </a:r>
            <a:r>
              <a:rPr kumimoji="1" lang="zh-CN" altLang="en-US" dirty="0" smtClean="0"/>
              <a:t> 要求字符串的长度不超过</a:t>
            </a:r>
            <a:r>
              <a:rPr kumimoji="1" lang="en-US" altLang="zh-CN" dirty="0" smtClean="0"/>
              <a:t>6000</a:t>
            </a:r>
            <a:r>
              <a:rPr kumimoji="1" lang="zh-CN" altLang="en-US" dirty="0" smtClean="0"/>
              <a:t>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记序列为</a:t>
            </a:r>
            <a:r>
              <a:rPr kumimoji="1" lang="en-US" altLang="zh-CN" dirty="0" smtClean="0"/>
              <a:t>FFFFFFESTIVALFFFESTIVAL…</a:t>
            </a:r>
            <a:endParaRPr kumimoji="1" lang="zh-CN" altLang="en-US" dirty="0" smtClean="0"/>
          </a:p>
          <a:p>
            <a:r>
              <a:rPr kumimoji="1" lang="zh-CN" altLang="en-US" dirty="0" smtClean="0"/>
              <a:t>连续</a:t>
            </a:r>
            <a:r>
              <a:rPr kumimoji="1" lang="en-US" altLang="zh-CN" dirty="0" smtClean="0"/>
              <a:t>c1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F</a:t>
            </a:r>
            <a:r>
              <a:rPr kumimoji="1" lang="zh-CN" altLang="en-US" dirty="0" smtClean="0"/>
              <a:t>后面接</a:t>
            </a:r>
            <a:r>
              <a:rPr kumimoji="1" lang="en-US" altLang="zh-CN" dirty="0" smtClean="0"/>
              <a:t>ESTIVAL</a:t>
            </a:r>
            <a:r>
              <a:rPr kumimoji="1" lang="zh-CN" altLang="en-US" dirty="0" smtClean="0"/>
              <a:t>，连续</a:t>
            </a:r>
            <a:r>
              <a:rPr kumimoji="1" lang="en-US" altLang="zh-CN" dirty="0" smtClean="0"/>
              <a:t>c2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F</a:t>
            </a:r>
            <a:r>
              <a:rPr kumimoji="1" lang="zh-CN" altLang="en-US" dirty="0" smtClean="0"/>
              <a:t>后面接</a:t>
            </a:r>
            <a:r>
              <a:rPr kumimoji="1" lang="en-US" altLang="zh-CN" dirty="0" smtClean="0"/>
              <a:t>ESTIVAL</a:t>
            </a:r>
            <a:r>
              <a:rPr kumimoji="1" lang="zh-CN" altLang="en-US" dirty="0" smtClean="0"/>
              <a:t>，这样放</a:t>
            </a:r>
            <a:r>
              <a:rPr kumimoji="1" lang="en-US" altLang="zh-CN" dirty="0" smtClean="0"/>
              <a:t>t</a:t>
            </a:r>
            <a:r>
              <a:rPr kumimoji="1" lang="zh-CN" altLang="en-US" dirty="0" smtClean="0"/>
              <a:t>个。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记</a:t>
            </a:r>
            <a:r>
              <a:rPr kumimoji="1" lang="en-US" altLang="zh-CN" dirty="0" smtClean="0"/>
              <a:t>f(n)</a:t>
            </a:r>
            <a:r>
              <a:rPr kumimoji="1" lang="zh-CN" altLang="en-US" dirty="0" smtClean="0"/>
              <a:t>表示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ESTIVAL</a:t>
            </a:r>
            <a:r>
              <a:rPr kumimoji="1" lang="zh-CN" altLang="en-US" dirty="0" smtClean="0"/>
              <a:t>中</a:t>
            </a:r>
            <a:r>
              <a:rPr kumimoji="1" lang="en-US" altLang="zh-CN" dirty="0" smtClean="0"/>
              <a:t>ESTIVAL</a:t>
            </a:r>
            <a:r>
              <a:rPr kumimoji="1" lang="zh-CN" altLang="en-US" dirty="0" smtClean="0"/>
              <a:t>的子序列个数，</a:t>
            </a:r>
            <a:r>
              <a:rPr kumimoji="1" lang="en-US" altLang="zh-CN" dirty="0" smtClean="0"/>
              <a:t>f(n)=C(n+6,7)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所以答案为</a:t>
            </a:r>
            <a:r>
              <a:rPr kumimoji="1" lang="en-US" altLang="zh-CN" dirty="0" smtClean="0"/>
              <a:t>c1</a:t>
            </a:r>
            <a:r>
              <a:rPr kumimoji="1" lang="zh-CN" altLang="en-US" dirty="0" smtClean="0"/>
              <a:t>*</a:t>
            </a:r>
            <a:r>
              <a:rPr kumimoji="1" lang="en-US" altLang="zh-CN" dirty="0" smtClean="0"/>
              <a:t>f(t)+c2</a:t>
            </a:r>
            <a:r>
              <a:rPr kumimoji="1" lang="zh-CN" altLang="en-US" dirty="0" smtClean="0"/>
              <a:t>*</a:t>
            </a:r>
            <a:r>
              <a:rPr kumimoji="1" lang="en-US" altLang="zh-CN" dirty="0" smtClean="0"/>
              <a:t>f(t-1)+…</a:t>
            </a:r>
            <a:endParaRPr kumimoji="1" lang="zh-CN" altLang="en-US" dirty="0" smtClean="0"/>
          </a:p>
          <a:p>
            <a:r>
              <a:rPr kumimoji="1" lang="zh-CN" altLang="en-US" dirty="0" smtClean="0"/>
              <a:t>取</a:t>
            </a:r>
            <a:r>
              <a:rPr kumimoji="1" lang="en-US" altLang="zh-CN" dirty="0" smtClean="0"/>
              <a:t>t=800</a:t>
            </a:r>
            <a:r>
              <a:rPr kumimoji="1" lang="zh-CN" altLang="en-US" dirty="0" smtClean="0"/>
              <a:t>，然后依次贪心减去最大的</a:t>
            </a:r>
            <a:r>
              <a:rPr kumimoji="1" lang="en-US" altLang="zh-CN" dirty="0" smtClean="0"/>
              <a:t>f(t)</a:t>
            </a:r>
            <a:r>
              <a:rPr kumimoji="1" lang="zh-CN" altLang="en-US" dirty="0" smtClean="0"/>
              <a:t>值，求出各个参数确定答案。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Dense Planting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dirty="0" smtClean="0"/>
              <a:t>https://qoj.ac/contest/1499/problem/8175</a:t>
            </a:r>
            <a:endParaRPr kumimoji="1" dirty="0" smtClean="0"/>
          </a:p>
          <a:p>
            <a:r>
              <a:rPr kumimoji="1" lang="zh-CN" dirty="0" smtClean="0"/>
              <a:t>构造可以有重边的</a:t>
            </a:r>
            <a:r>
              <a:rPr kumimoji="1" lang="zh-CN" altLang="en-US" dirty="0" smtClean="0"/>
              <a:t>图，使得生成树个数恰好位</a:t>
            </a:r>
            <a:r>
              <a:rPr kumimoji="1" lang="en-US" altLang="zh-CN" dirty="0" smtClean="0"/>
              <a:t> k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en-US" altLang="zh-CN" dirty="0" smtClean="0"/>
              <a:t>k 1e9</a:t>
            </a:r>
            <a:r>
              <a:rPr kumimoji="1" lang="zh-CN" altLang="en-US" dirty="0" smtClean="0"/>
              <a:t>，边数不超过</a:t>
            </a:r>
            <a:r>
              <a:rPr kumimoji="1" lang="en-US" altLang="zh-CN" dirty="0" smtClean="0"/>
              <a:t> 1e3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Solution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经过尝试</a:t>
            </a:r>
            <a:r>
              <a:rPr kumimoji="1" lang="zh-CN" altLang="en-US" dirty="0" smtClean="0"/>
              <a:t>发现五元环就可以，然后枚举边数</a:t>
            </a:r>
            <a:r>
              <a:rPr kumimoji="1" lang="zh-CN" altLang="en-US" dirty="0" smtClean="0"/>
              <a:t>即可。</a:t>
            </a:r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调整构造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一开始不知道答案，通过一些方法向答案一点一点逼近。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需要有度量说和答案的值会越来越近，并且在一定步数内会达到。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或者一开始的答案有一点小问题，需要微调修改一下。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table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有一个</a:t>
            </a:r>
            <a:r>
              <a:rPr lang="en-US" altLang="zh-CN" dirty="0" smtClean="0"/>
              <a:t>n*m</a:t>
            </a:r>
            <a:r>
              <a:rPr lang="zh-CN" altLang="en-US" dirty="0" smtClean="0"/>
              <a:t>的矩阵，每次可以将一列取负或者将一行取负，求一个方案使得每行每列的和都非负。</a:t>
            </a:r>
            <a:endParaRPr lang="zh-CN" altLang="en-US" dirty="0" smtClean="0"/>
          </a:p>
          <a:p>
            <a:r>
              <a:rPr lang="en-US" altLang="zh-CN" dirty="0" err="1" smtClean="0"/>
              <a:t>n,m</a:t>
            </a:r>
            <a:r>
              <a:rPr lang="en-US" altLang="zh-CN" dirty="0"/>
              <a:t>&lt;=</a:t>
            </a:r>
            <a:r>
              <a:rPr lang="en-US" altLang="zh-CN" dirty="0" smtClean="0"/>
              <a:t>100,</a:t>
            </a:r>
            <a:r>
              <a:rPr lang="zh-CN" altLang="en-US" dirty="0"/>
              <a:t>元素绝对值</a:t>
            </a:r>
            <a:r>
              <a:rPr lang="en-US" altLang="zh-CN" dirty="0"/>
              <a:t>&lt;=100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每次看有没有行</a:t>
            </a:r>
            <a:r>
              <a:rPr lang="en-US" altLang="zh-CN" dirty="0" smtClean="0"/>
              <a:t>/</a:t>
            </a:r>
            <a:r>
              <a:rPr lang="zh-CN" altLang="en-US" dirty="0" smtClean="0"/>
              <a:t>列和为负，如果是就</a:t>
            </a:r>
            <a:r>
              <a:rPr lang="en-US" altLang="zh-CN" dirty="0" smtClean="0"/>
              <a:t>reverse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r>
              <a:rPr lang="zh-CN" altLang="en-US" dirty="0" smtClean="0"/>
              <a:t>因为和是递增的，所以一定</a:t>
            </a:r>
            <a:r>
              <a:rPr lang="zh-CN" altLang="en-US" dirty="0"/>
              <a:t>会</a:t>
            </a:r>
            <a:r>
              <a:rPr lang="zh-CN" altLang="en-US" dirty="0" smtClean="0"/>
              <a:t>结束。</a:t>
            </a:r>
            <a:endParaRPr lang="zh-CN" altLang="en-US" dirty="0" smtClean="0"/>
          </a:p>
          <a:p>
            <a:r>
              <a:rPr lang="zh-CN" altLang="en-US" dirty="0" smtClean="0"/>
              <a:t>每次操作需要</a:t>
            </a:r>
            <a:r>
              <a:rPr lang="en-US" altLang="zh-CN" dirty="0" smtClean="0"/>
              <a:t>O(n)</a:t>
            </a:r>
            <a:r>
              <a:rPr lang="zh-CN" altLang="en-US" dirty="0" smtClean="0"/>
              <a:t>的复杂度，所以要考虑操作的总步数。</a:t>
            </a:r>
            <a:endParaRPr lang="zh-CN" altLang="en-US" dirty="0" smtClean="0"/>
          </a:p>
          <a:p>
            <a:r>
              <a:rPr lang="zh-CN" altLang="en-US" dirty="0" smtClean="0"/>
              <a:t>每次操作至少</a:t>
            </a:r>
            <a:r>
              <a:rPr lang="zh-CN" altLang="en-US" dirty="0"/>
              <a:t>使和增加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，而和</a:t>
            </a:r>
            <a:r>
              <a:rPr lang="zh-CN" altLang="en-US" dirty="0"/>
              <a:t>最大</a:t>
            </a:r>
            <a:r>
              <a:rPr lang="en-US" altLang="zh-CN" dirty="0"/>
              <a:t>100^3</a:t>
            </a:r>
            <a:r>
              <a:rPr lang="zh-CN" altLang="en-US" dirty="0"/>
              <a:t>，最小</a:t>
            </a:r>
            <a:r>
              <a:rPr lang="en-US" altLang="zh-CN" dirty="0"/>
              <a:t>-</a:t>
            </a:r>
            <a:r>
              <a:rPr lang="en-US" altLang="zh-CN" dirty="0" smtClean="0"/>
              <a:t>100^3</a:t>
            </a:r>
            <a:r>
              <a:rPr lang="zh-CN" altLang="en-US" dirty="0" smtClean="0"/>
              <a:t>，所以总步数最多为</a:t>
            </a:r>
            <a:r>
              <a:rPr lang="en-US" altLang="zh-CN" dirty="0" smtClean="0"/>
              <a:t>100^3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Flip Row or Col 2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https://atcoder.jp/contests/arc199/tasks/arc199_a</a:t>
            </a:r>
            <a:endParaRPr dirty="0" smtClean="0"/>
          </a:p>
          <a:p>
            <a:r>
              <a:rPr lang="zh-CN" dirty="0" smtClean="0"/>
              <a:t>给你一个矩阵，你可以翻转行列，使得第</a:t>
            </a:r>
            <a:r>
              <a:rPr lang="en-US" altLang="zh-CN" dirty="0" smtClean="0"/>
              <a:t> i </a:t>
            </a:r>
            <a:r>
              <a:rPr lang="zh-CN" altLang="en-US" dirty="0" smtClean="0"/>
              <a:t>行</a:t>
            </a:r>
            <a:r>
              <a:rPr lang="en-US" altLang="zh-CN" dirty="0" smtClean="0"/>
              <a:t> 1 </a:t>
            </a:r>
            <a:r>
              <a:rPr lang="zh-CN" altLang="en-US" dirty="0" smtClean="0"/>
              <a:t>的个数为</a:t>
            </a:r>
            <a:r>
              <a:rPr lang="en-US" altLang="zh-CN" dirty="0" smtClean="0"/>
              <a:t> R_i</a:t>
            </a:r>
            <a:r>
              <a:rPr lang="zh-CN" altLang="en-US" dirty="0" smtClean="0"/>
              <a:t>，第</a:t>
            </a:r>
            <a:r>
              <a:rPr lang="en-US" altLang="zh-CN" dirty="0" smtClean="0"/>
              <a:t> j </a:t>
            </a:r>
            <a:r>
              <a:rPr lang="zh-CN" altLang="en-US" dirty="0" smtClean="0"/>
              <a:t>行</a:t>
            </a:r>
            <a:r>
              <a:rPr lang="en-US" altLang="zh-CN" dirty="0" smtClean="0"/>
              <a:t> 1 </a:t>
            </a:r>
            <a:r>
              <a:rPr lang="zh-CN" altLang="en-US" dirty="0" smtClean="0"/>
              <a:t>的个数位</a:t>
            </a:r>
            <a:r>
              <a:rPr lang="en-US" altLang="zh-CN" dirty="0" smtClean="0"/>
              <a:t>  C_j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lang="en-US" altLang="zh-CN" dirty="0" smtClean="0"/>
              <a:t>R, C &lt;= N/4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和上面的题比较类似，首先把第一行变成</a:t>
            </a:r>
            <a:r>
              <a:rPr lang="en-US" altLang="zh-CN" dirty="0" smtClean="0"/>
              <a:t> 0</a:t>
            </a:r>
            <a:r>
              <a:rPr lang="zh-CN" altLang="en-US" dirty="0" smtClean="0"/>
              <a:t>，这个时候，至多只能反转</a:t>
            </a:r>
            <a:r>
              <a:rPr lang="en-US" altLang="zh-CN" dirty="0" smtClean="0"/>
              <a:t> n/4 </a:t>
            </a:r>
            <a:r>
              <a:rPr lang="zh-CN" altLang="en-US" dirty="0" smtClean="0"/>
              <a:t>列。</a:t>
            </a:r>
            <a:endParaRPr lang="zh-CN" altLang="en-US" dirty="0" smtClean="0"/>
          </a:p>
          <a:p>
            <a:r>
              <a:rPr lang="zh-CN" altLang="en-US" dirty="0" smtClean="0"/>
              <a:t>对于每一行如果</a:t>
            </a:r>
            <a:r>
              <a:rPr lang="en-US" altLang="zh-CN" dirty="0" smtClean="0"/>
              <a:t> 1 </a:t>
            </a:r>
            <a:r>
              <a:rPr lang="zh-CN" altLang="en-US" dirty="0" smtClean="0"/>
              <a:t>个数超过</a:t>
            </a:r>
            <a:r>
              <a:rPr lang="en-US" altLang="zh-CN" dirty="0" smtClean="0"/>
              <a:t> n/2</a:t>
            </a:r>
            <a:r>
              <a:rPr lang="zh-CN" altLang="en-US" dirty="0" smtClean="0"/>
              <a:t>，就反转这一行。这样每一行</a:t>
            </a:r>
            <a:r>
              <a:rPr lang="zh-CN" altLang="en-US" dirty="0" smtClean="0"/>
              <a:t>是否反转可以确定。</a:t>
            </a:r>
            <a:endParaRPr lang="zh-CN" altLang="en-US" dirty="0" smtClean="0"/>
          </a:p>
          <a:p>
            <a:r>
              <a:rPr lang="zh-CN" altLang="en-US" dirty="0" smtClean="0"/>
              <a:t>然后对于每一列</a:t>
            </a:r>
            <a:r>
              <a:rPr lang="zh-CN" altLang="en-US" dirty="0" smtClean="0"/>
              <a:t>做类似的操作。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Graph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Coloring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你有一个图，每个点的度数都不超过</a:t>
            </a:r>
            <a:r>
              <a:rPr kumimoji="1" lang="en-US" altLang="zh-CN" dirty="0" smtClean="0"/>
              <a:t>5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请将这个图三染色，使得每个点都至多一个邻居与他颜色相同。</a:t>
            </a:r>
            <a:endParaRPr kumimoji="1" lang="zh-CN" altLang="en-US" dirty="0" smtClean="0"/>
          </a:p>
          <a:p>
            <a:r>
              <a:rPr kumimoji="1" lang="en-US" altLang="zh-CN" dirty="0"/>
              <a:t>n</a:t>
            </a:r>
            <a:r>
              <a:rPr kumimoji="1" lang="en-US" altLang="zh-CN" dirty="0" smtClean="0"/>
              <a:t>&lt;=100000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如果一个点存在超过一个的相同颜色相邻点，那么将这个点调整为邻居中颜色最少的那种。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可以发现每次这么做，相同颜色的边的个数就会减少。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一开始这样的边是</a:t>
            </a:r>
            <a:r>
              <a:rPr kumimoji="1" lang="en-US" altLang="zh-CN" dirty="0" smtClean="0"/>
              <a:t>O(n)</a:t>
            </a:r>
            <a:r>
              <a:rPr kumimoji="1" lang="zh-CN" altLang="en-US" dirty="0" smtClean="0"/>
              <a:t>的，所以调整总次数</a:t>
            </a:r>
            <a:r>
              <a:rPr kumimoji="1" lang="en-US" altLang="zh-CN" dirty="0" smtClean="0"/>
              <a:t>O(n)</a:t>
            </a:r>
            <a:r>
              <a:rPr kumimoji="1" lang="zh-CN" altLang="en-US" dirty="0" smtClean="0"/>
              <a:t>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忘了啥题了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给你一个图，每条边边权可以是一个范围，让你构造一个边权，使得</a:t>
            </a:r>
            <a:r>
              <a:rPr kumimoji="1" lang="en-US" altLang="zh-CN" dirty="0"/>
              <a:t>s </a:t>
            </a:r>
            <a:r>
              <a:rPr kumimoji="1" lang="zh-CN" altLang="en-US" dirty="0"/>
              <a:t>到</a:t>
            </a:r>
            <a:r>
              <a:rPr kumimoji="1" lang="en-US" altLang="zh-CN" dirty="0"/>
              <a:t> t </a:t>
            </a:r>
            <a:r>
              <a:rPr kumimoji="1" lang="zh-CN" altLang="en-US" dirty="0"/>
              <a:t>最短路恰好为</a:t>
            </a:r>
            <a:r>
              <a:rPr kumimoji="1" lang="en-US" altLang="zh-CN" dirty="0"/>
              <a:t> D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Solution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考虑你把每条边边权依次调大，最短路一定单调不降，然后</a:t>
            </a:r>
            <a:r>
              <a:rPr kumimoji="1" lang="zh-CN" altLang="en-US" dirty="0"/>
              <a:t>二分即可。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AGC 060 </a:t>
            </a:r>
            <a:r>
              <a:rPr kumimoji="1" lang="en-US" altLang="zh-CN" dirty="0"/>
              <a:t>E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令 </a:t>
            </a:r>
            <a:r>
              <a:rPr lang="en-US" altLang="zh-CN">
                <a:sym typeface="+mn-ea"/>
              </a:rPr>
              <a:t>f(x) </a:t>
            </a:r>
            <a:r>
              <a:rPr lang="zh-CN" altLang="en-US">
                <a:sym typeface="+mn-ea"/>
              </a:rPr>
              <a:t>表示 </a:t>
            </a:r>
            <a:r>
              <a:rPr lang="en-US" altLang="zh-CN">
                <a:sym typeface="+mn-ea"/>
              </a:rPr>
              <a:t>x </a:t>
            </a:r>
            <a:r>
              <a:rPr lang="zh-CN" altLang="en-US">
                <a:sym typeface="+mn-ea"/>
              </a:rPr>
              <a:t>的环的个数。</a:t>
            </a:r>
            <a:endParaRPr lang="zh-CN" altLang="en-US"/>
          </a:p>
          <a:p>
            <a:r>
              <a:rPr lang="zh-CN" altLang="en-US">
                <a:sym typeface="+mn-ea"/>
              </a:rPr>
              <a:t>给一个排列 </a:t>
            </a:r>
            <a:r>
              <a:rPr lang="en-US" altLang="zh-CN">
                <a:sym typeface="+mn-ea"/>
              </a:rPr>
              <a:t>p[1], p[2], ..., p[n] </a:t>
            </a:r>
            <a:r>
              <a:rPr lang="zh-CN" altLang="en-US">
                <a:sym typeface="+mn-ea"/>
              </a:rPr>
              <a:t>和 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构造 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，满足 </a:t>
            </a:r>
            <a:r>
              <a:rPr lang="en-US" altLang="zh-CN">
                <a:sym typeface="+mn-ea"/>
              </a:rPr>
              <a:t>f(x) + f(p(x)) = K</a:t>
            </a:r>
            <a:r>
              <a:rPr lang="zh-CN" altLang="en-US">
                <a:sym typeface="+mn-ea"/>
              </a:rPr>
              <a:t>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Solution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看着不太可做，</a:t>
            </a:r>
            <a:r>
              <a:rPr lang="zh-CN" altLang="en-US">
                <a:sym typeface="+mn-ea"/>
              </a:rPr>
              <a:t>考虑打表找规律：最大值当 </a:t>
            </a:r>
            <a:r>
              <a:rPr lang="en-US" altLang="zh-CN">
                <a:sym typeface="+mn-ea"/>
              </a:rPr>
              <a:t>x = 1...n </a:t>
            </a:r>
            <a:r>
              <a:rPr lang="zh-CN" altLang="en-US">
                <a:sym typeface="+mn-ea"/>
              </a:rPr>
              <a:t>时候取到，最小值等于 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或者 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，并且找一下如何构造 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或者 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的规律。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然后从 </a:t>
            </a:r>
            <a:r>
              <a:rPr lang="en-US" altLang="zh-CN">
                <a:sym typeface="+mn-ea"/>
              </a:rPr>
              <a:t>1 </a:t>
            </a:r>
            <a:r>
              <a:rPr lang="zh-CN" altLang="en-US">
                <a:sym typeface="+mn-ea"/>
              </a:rPr>
              <a:t>到 </a:t>
            </a:r>
            <a:r>
              <a:rPr lang="en-US" altLang="zh-CN">
                <a:sym typeface="+mn-ea"/>
              </a:rPr>
              <a:t>n </a:t>
            </a:r>
            <a:r>
              <a:rPr lang="zh-CN" altLang="en-US">
                <a:sym typeface="+mn-ea"/>
              </a:rPr>
              <a:t>调整到对应的排列，每次值变化不超过 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，二分即可。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AD hoc</a:t>
            </a:r>
            <a:endParaRPr kumimoji="1"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可能没法特定的套路，</a:t>
            </a:r>
            <a:r>
              <a:rPr kumimoji="1" lang="zh-CN" altLang="en-US" dirty="0" smtClean="0"/>
              <a:t>具体问题具体分析。</a:t>
            </a:r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dirty="0" smtClean="0"/>
              <a:t>EC Final 2024 I</a:t>
            </a:r>
            <a:endParaRPr kumimoji="1"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dirty="0" smtClean="0"/>
              <a:t>https://qoj.ac/contest/1894/problem/9983</a:t>
            </a:r>
            <a:endParaRPr kumimoji="1" dirty="0" smtClean="0"/>
          </a:p>
          <a:p>
            <a:r>
              <a:rPr kumimoji="1" lang="zh-CN" altLang="en-US" dirty="0" smtClean="0"/>
              <a:t>给一棵树黑白染色，要求黑点白点一样多，并且路径上黑白点差不超过</a:t>
            </a:r>
            <a:r>
              <a:rPr kumimoji="1" lang="en-US" altLang="zh-CN" dirty="0" smtClean="0"/>
              <a:t> 3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dirty="0" smtClean="0"/>
              <a:t>Shenyang 2024 </a:t>
            </a:r>
            <a:r>
              <a:rPr kumimoji="1" lang="en-US" dirty="0" smtClean="0"/>
              <a:t>B</a:t>
            </a:r>
            <a:endParaRPr kumimoji="1" 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dirty="0" smtClean="0"/>
              <a:t>https://qoj.ac/contest/1865/problem/9799</a:t>
            </a:r>
            <a:endParaRPr kumimoji="1" dirty="0" smtClean="0"/>
          </a:p>
          <a:p>
            <a:r>
              <a:rPr kumimoji="1" lang="zh-CN" dirty="0" smtClean="0"/>
              <a:t>构造</a:t>
            </a:r>
            <a:r>
              <a:rPr kumimoji="1" lang="en-US" altLang="zh-CN" dirty="0" smtClean="0"/>
              <a:t> a0... a(n-1) b0 ... b(m-1) </a:t>
            </a:r>
            <a:r>
              <a:rPr kumimoji="1" lang="zh-CN" altLang="en-US" dirty="0" smtClean="0"/>
              <a:t>使得相乘两两</a:t>
            </a:r>
            <a:r>
              <a:rPr kumimoji="1" lang="zh-CN" altLang="en-US" dirty="0" smtClean="0"/>
              <a:t>不同。</a:t>
            </a:r>
            <a:endParaRPr kumimoji="1" lang="zh-CN" altLang="en-US" dirty="0" smtClean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dirty="0" smtClean="0"/>
              <a:t>Solution</a:t>
            </a:r>
            <a:endParaRPr kumimoji="1" 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根据不知道为什么，一定有</a:t>
            </a:r>
            <a:r>
              <a:rPr kumimoji="1" lang="en-US" altLang="zh-CN" dirty="0" smtClean="0"/>
              <a:t> n m </a:t>
            </a:r>
            <a:r>
              <a:rPr kumimoji="1" lang="zh-CN" altLang="en-US" dirty="0" smtClean="0"/>
              <a:t>互质。</a:t>
            </a:r>
            <a:endParaRPr kumimoji="1" lang="en-US" altLang="zh-CN" dirty="0" smtClean="0"/>
          </a:p>
          <a:p>
            <a:r>
              <a:rPr kumimoji="1" lang="en-US" altLang="zh-CN" dirty="0" smtClean="0"/>
              <a:t>CRT</a:t>
            </a:r>
            <a:r>
              <a:rPr kumimoji="1" lang="zh-CN" altLang="en-US" dirty="0" smtClean="0"/>
              <a:t>，构造</a:t>
            </a:r>
            <a:endParaRPr kumimoji="1" lang="zh-CN" altLang="en-US" dirty="0" smtClean="0"/>
          </a:p>
          <a:p>
            <a:pPr lvl="1"/>
            <a:r>
              <a:rPr kumimoji="1" lang="en-US" altLang="zh-CN" dirty="0" smtClean="0"/>
              <a:t>(1, 0), (1, 1) ... (1, n-1)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(0, 1), (1, 1) ... (m-1, 1)</a:t>
            </a:r>
            <a:endParaRPr kumimoji="1" lang="en-US" altLang="zh-CN" dirty="0" smtClean="0"/>
          </a:p>
          <a:p>
            <a:pPr lvl="1"/>
            <a:endParaRPr kumimoji="1" lang="zh-CN" altLang="en-US" dirty="0" smtClean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dirty="0" smtClean="0"/>
              <a:t>CCPCF 2024 </a:t>
            </a:r>
            <a:r>
              <a:rPr kumimoji="1" lang="en-US" dirty="0" smtClean="0"/>
              <a:t>H</a:t>
            </a:r>
            <a:endParaRPr kumimoji="1" 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dirty="0" smtClean="0"/>
              <a:t>https://qoj.ac/contest/2036/problem/11112</a:t>
            </a:r>
            <a:endParaRPr kumimoji="1" dirty="0" smtClean="0"/>
          </a:p>
          <a:p>
            <a:r>
              <a:rPr kumimoji="1" lang="zh-CN" altLang="en-US" dirty="0" smtClean="0"/>
              <a:t>所有</a:t>
            </a:r>
            <a:r>
              <a:rPr kumimoji="1" lang="en-US" altLang="zh-CN" dirty="0" smtClean="0"/>
              <a:t> n </a:t>
            </a:r>
            <a:r>
              <a:rPr kumimoji="1" lang="zh-CN" altLang="en-US" dirty="0" smtClean="0"/>
              <a:t>位</a:t>
            </a:r>
            <a:r>
              <a:rPr kumimoji="1" lang="en-US" altLang="zh-CN" dirty="0" smtClean="0"/>
              <a:t> </a:t>
            </a:r>
            <a:r>
              <a:rPr kumimoji="1" lang="zh-CN" altLang="en-US" dirty="0" smtClean="0"/>
              <a:t>其中有</a:t>
            </a:r>
            <a:r>
              <a:rPr kumimoji="1" lang="en-US" altLang="zh-CN" dirty="0" smtClean="0"/>
              <a:t> k </a:t>
            </a:r>
            <a:r>
              <a:rPr kumimoji="1" lang="zh-CN" altLang="en-US" dirty="0" smtClean="0"/>
              <a:t>个</a:t>
            </a:r>
            <a:r>
              <a:rPr kumimoji="1" lang="en-US" altLang="zh-CN" dirty="0" smtClean="0"/>
              <a:t> 1 </a:t>
            </a:r>
            <a:r>
              <a:rPr kumimoji="1" lang="zh-CN" altLang="en-US" dirty="0" smtClean="0"/>
              <a:t>的</a:t>
            </a:r>
            <a:r>
              <a:rPr kumimoji="1" lang="en-US" altLang="zh-CN" dirty="0" smtClean="0"/>
              <a:t> 01</a:t>
            </a:r>
            <a:r>
              <a:rPr kumimoji="1" lang="zh-CN" altLang="en-US" dirty="0" smtClean="0"/>
              <a:t>串里面选</a:t>
            </a:r>
            <a:r>
              <a:rPr kumimoji="1" lang="en-US" altLang="zh-CN" dirty="0" smtClean="0"/>
              <a:t> m </a:t>
            </a:r>
            <a:r>
              <a:rPr kumimoji="1" lang="zh-CN" altLang="en-US" dirty="0" smtClean="0"/>
              <a:t>个，使得每一位加起来最大值</a:t>
            </a:r>
            <a:r>
              <a:rPr kumimoji="1" lang="zh-CN" altLang="en-US" dirty="0" smtClean="0"/>
              <a:t>尽量小。</a:t>
            </a:r>
            <a:endParaRPr kumimoji="1" lang="zh-CN" altLang="en-US" dirty="0" smtClean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dirty="0" smtClean="0"/>
              <a:t>Least Annoying Constructive Problem</a:t>
            </a:r>
            <a:endParaRPr kumimoji="1" 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dirty="0" smtClean="0"/>
              <a:t>https://qoj.ac/contest/1106/problem/5528</a:t>
            </a:r>
            <a:endParaRPr kumimoji="1" dirty="0" smtClean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dirty="0" smtClean="0"/>
              <a:t>Solution</a:t>
            </a:r>
            <a:endParaRPr kumimoji="1" 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dirty="0" smtClean="0"/>
              <a:t>很对称，比较经典的循环赛的</a:t>
            </a:r>
            <a:r>
              <a:rPr kumimoji="1" lang="zh-CN" dirty="0" smtClean="0"/>
              <a:t>构造方法。</a:t>
            </a:r>
            <a:endParaRPr kumimoji="1" lang="zh-CN" dirty="0" smtClean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智商锁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构造一个简单图，使得生成树的个数模</a:t>
            </a:r>
            <a:r>
              <a:rPr kumimoji="1" lang="en-US" altLang="zh-CN" dirty="0" smtClean="0"/>
              <a:t>p=K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en-US" altLang="zh-CN" dirty="0" smtClean="0"/>
              <a:t>p=</a:t>
            </a:r>
            <a:r>
              <a:rPr lang="en-US" altLang="zh-CN" dirty="0" smtClean="0"/>
              <a:t>998244353,</a:t>
            </a:r>
            <a:r>
              <a:rPr lang="zh-CN" altLang="en-US" dirty="0" smtClean="0"/>
              <a:t> 要求点的个数不超过</a:t>
            </a:r>
            <a:r>
              <a:rPr lang="en-US" altLang="zh-CN" dirty="0" smtClean="0"/>
              <a:t>100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Solution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首先你会发现不存在一个图恰有两棵生成树。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做法是搞一个</a:t>
            </a:r>
            <a:r>
              <a:rPr kumimoji="1" lang="en-US" altLang="zh-CN" dirty="0" smtClean="0"/>
              <a:t>25</a:t>
            </a:r>
            <a:r>
              <a:rPr kumimoji="1" lang="zh-CN" altLang="en-US" dirty="0" smtClean="0"/>
              <a:t>的块，然后在这个块里面随机连边，使用行列式求出生成树的个数。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最后可以把这块串起来，生成树的总方案为</a:t>
            </a:r>
            <a:r>
              <a:rPr kumimoji="1" lang="en-US" altLang="zh-CN" dirty="0" smtClean="0"/>
              <a:t>pa</a:t>
            </a:r>
            <a:r>
              <a:rPr kumimoji="1" lang="zh-CN" altLang="en-US" dirty="0" smtClean="0"/>
              <a:t>*</a:t>
            </a:r>
            <a:r>
              <a:rPr kumimoji="1" lang="en-US" altLang="zh-CN" dirty="0" err="1" smtClean="0"/>
              <a:t>pb</a:t>
            </a:r>
            <a:r>
              <a:rPr kumimoji="1" lang="zh-CN" altLang="en-US" dirty="0" smtClean="0"/>
              <a:t>*</a:t>
            </a:r>
            <a:r>
              <a:rPr kumimoji="1" lang="en-US" altLang="zh-CN" dirty="0" smtClean="0"/>
              <a:t>pc</a:t>
            </a:r>
            <a:r>
              <a:rPr kumimoji="1" lang="zh-CN" altLang="en-US" dirty="0" smtClean="0"/>
              <a:t>*</a:t>
            </a:r>
            <a:r>
              <a:rPr kumimoji="1" lang="en-US" altLang="zh-CN" dirty="0" err="1" smtClean="0"/>
              <a:t>pd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r>
              <a:rPr kumimoji="1" lang="zh-CN" altLang="en-US" dirty="0" smtClean="0"/>
              <a:t>可以用</a:t>
            </a:r>
            <a:r>
              <a:rPr kumimoji="1" lang="en-US" altLang="zh-CN" dirty="0" smtClean="0"/>
              <a:t>meet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middle</a:t>
            </a:r>
            <a:r>
              <a:rPr kumimoji="1" lang="zh-CN" altLang="en-US" dirty="0" smtClean="0"/>
              <a:t>高效的找到这样的</a:t>
            </a:r>
            <a:r>
              <a:rPr kumimoji="1" lang="en-US" altLang="zh-CN" dirty="0" smtClean="0"/>
              <a:t>pair</a:t>
            </a:r>
            <a:r>
              <a:rPr kumimoji="1" lang="zh-CN" altLang="en-US" dirty="0" smtClean="0"/>
              <a:t>。</a:t>
            </a:r>
            <a:endParaRPr kumimoji="1" lang="zh-CN" altLang="en-US" dirty="0" smtClean="0"/>
          </a:p>
          <a:p>
            <a:endParaRPr kumimoji="1"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积分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5947</Words>
  <Application>WPS 演示</Application>
  <PresentationFormat>宽屏</PresentationFormat>
  <Paragraphs>403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5" baseType="lpstr">
      <vt:lpstr>Arial</vt:lpstr>
      <vt:lpstr>宋体</vt:lpstr>
      <vt:lpstr>Wingdings</vt:lpstr>
      <vt:lpstr>Tw Cen MT</vt:lpstr>
      <vt:lpstr>苹方-简</vt:lpstr>
      <vt:lpstr>Wingdings 3</vt:lpstr>
      <vt:lpstr>华文仿宋</vt:lpstr>
      <vt:lpstr>Tw Cen MT Condensed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Calibri</vt:lpstr>
      <vt:lpstr>积分</vt:lpstr>
      <vt:lpstr>构造</vt:lpstr>
      <vt:lpstr>增量构造</vt:lpstr>
      <vt:lpstr>经典问题</vt:lpstr>
      <vt:lpstr>Solution</vt:lpstr>
      <vt:lpstr>90 and 270</vt:lpstr>
      <vt:lpstr>Solution</vt:lpstr>
      <vt:lpstr>Jinan E</vt:lpstr>
      <vt:lpstr>Jinan 2020 E</vt:lpstr>
      <vt:lpstr>Jinan 2020 E</vt:lpstr>
      <vt:lpstr>shanghai 2024 H</vt:lpstr>
      <vt:lpstr>shanghai 2024 H</vt:lpstr>
      <vt:lpstr>Tree Weights</vt:lpstr>
      <vt:lpstr>Tree Weights</vt:lpstr>
      <vt:lpstr>The same permutation</vt:lpstr>
      <vt:lpstr>递归构造</vt:lpstr>
      <vt:lpstr>Welcome 2016!</vt:lpstr>
      <vt:lpstr>Solution</vt:lpstr>
      <vt:lpstr>Solution</vt:lpstr>
      <vt:lpstr>Reverse Sort</vt:lpstr>
      <vt:lpstr>ECF 2024 F</vt:lpstr>
      <vt:lpstr>ECF 2024 F</vt:lpstr>
      <vt:lpstr>Harbin 2024 A</vt:lpstr>
      <vt:lpstr>Harbin 2024 A</vt:lpstr>
      <vt:lpstr>Jinan 2024 D</vt:lpstr>
      <vt:lpstr>Reverse Sort</vt:lpstr>
      <vt:lpstr>Solution</vt:lpstr>
      <vt:lpstr>Solution</vt:lpstr>
      <vt:lpstr>Reverse Sort</vt:lpstr>
      <vt:lpstr>Zhengzhou 2024 E</vt:lpstr>
      <vt:lpstr>增加限制</vt:lpstr>
      <vt:lpstr>经典问题</vt:lpstr>
      <vt:lpstr>Solution</vt:lpstr>
      <vt:lpstr>Hack it!</vt:lpstr>
      <vt:lpstr>Solution</vt:lpstr>
      <vt:lpstr>Double Knapsack</vt:lpstr>
      <vt:lpstr>Solution</vt:lpstr>
      <vt:lpstr>Jinan J </vt:lpstr>
      <vt:lpstr>Jinan 2020 J </vt:lpstr>
      <vt:lpstr>待定参数</vt:lpstr>
      <vt:lpstr>Virtual Participation</vt:lpstr>
      <vt:lpstr>Solution</vt:lpstr>
      <vt:lpstr>Test for Rikka</vt:lpstr>
      <vt:lpstr>Solution</vt:lpstr>
      <vt:lpstr>Solution</vt:lpstr>
      <vt:lpstr>Festival</vt:lpstr>
      <vt:lpstr>Solution</vt:lpstr>
      <vt:lpstr>Festival</vt:lpstr>
      <vt:lpstr>Dense Planting</vt:lpstr>
      <vt:lpstr>调整构造</vt:lpstr>
      <vt:lpstr>The table</vt:lpstr>
      <vt:lpstr>Solution</vt:lpstr>
      <vt:lpstr>The table</vt:lpstr>
      <vt:lpstr>Flip Row or Col 2</vt:lpstr>
      <vt:lpstr>Graph Coloring</vt:lpstr>
      <vt:lpstr>Solution</vt:lpstr>
      <vt:lpstr>Graph Coloring</vt:lpstr>
      <vt:lpstr>忘了啥题了</vt:lpstr>
      <vt:lpstr>忘了啥题了</vt:lpstr>
      <vt:lpstr>AGC 060 E</vt:lpstr>
      <vt:lpstr>AD hoc</vt:lpstr>
      <vt:lpstr>Nanjing A</vt:lpstr>
      <vt:lpstr>CCPCF 2024 H</vt:lpstr>
      <vt:lpstr>Shenyang 2024 B</vt:lpstr>
      <vt:lpstr>EC Final 2024 I</vt:lpstr>
      <vt:lpstr>CCPCF 2024 H</vt:lpstr>
      <vt:lpstr>Least Annoying Constructive Problem</vt:lpstr>
      <vt:lpstr>智商锁</vt:lpstr>
      <vt:lpstr>Solution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图论考点解析</dc:title>
  <dc:creator>Microsoft Office 用户</dc:creator>
  <cp:lastModifiedBy>apiadu</cp:lastModifiedBy>
  <cp:revision>678</cp:revision>
  <dcterms:created xsi:type="dcterms:W3CDTF">2025-07-30T21:30:31Z</dcterms:created>
  <dcterms:modified xsi:type="dcterms:W3CDTF">2025-07-30T21:30:31Z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2052-6.0.2.8225</vt:lpwstr>
  </property>
  <property fmtid="{D5CDD505-2E9C-101B-9397-08002B2CF9AE}" pid="3" name="ICV">
    <vt:lpwstr>9DC4EAF0354DE74EDD738A6818FA9FF8_42</vt:lpwstr>
  </property>
</Properties>
</file>